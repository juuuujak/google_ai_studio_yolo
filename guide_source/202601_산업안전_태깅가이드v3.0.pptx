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79" r:id="rId3"/>
    <p:sldId id="280" r:id="rId4"/>
    <p:sldId id="363" r:id="rId5"/>
    <p:sldId id="376" r:id="rId6"/>
    <p:sldId id="334" r:id="rId7"/>
    <p:sldId id="368" r:id="rId8"/>
    <p:sldId id="369" r:id="rId9"/>
    <p:sldId id="337" r:id="rId10"/>
    <p:sldId id="371" r:id="rId11"/>
    <p:sldId id="354" r:id="rId12"/>
    <p:sldId id="373" r:id="rId13"/>
    <p:sldId id="374" r:id="rId14"/>
    <p:sldId id="372" r:id="rId15"/>
    <p:sldId id="375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6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1AC42E65-8A40-4479-9D95-98D77C416856}" type="datetimeFigureOut">
              <a:rPr lang="ko-KR" altLang="en-US" smtClean="0"/>
              <a:pPr/>
              <a:t>2026-01-08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4AFD5C27-5414-4809-A319-6B50F6F03CC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8153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나눔스퀘어 Bold" panose="020B0600000101010101" pitchFamily="50" charset="-127"/>
        <a:ea typeface="나눔스퀘어 Bold" panose="020B0600000101010101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스퀘어 Bold" panose="020B0600000101010101" pitchFamily="50" charset="-127"/>
        <a:ea typeface="나눔스퀘어 Bold" panose="020B0600000101010101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스퀘어 Bold" panose="020B0600000101010101" pitchFamily="50" charset="-127"/>
        <a:ea typeface="나눔스퀘어 Bold" panose="020B0600000101010101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스퀘어 Bold" panose="020B0600000101010101" pitchFamily="50" charset="-127"/>
        <a:ea typeface="나눔스퀘어 Bold" panose="020B0600000101010101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스퀘어 Bold" panose="020B0600000101010101" pitchFamily="50" charset="-127"/>
        <a:ea typeface="나눔스퀘어 Bold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5541B-72D8-4519-88D9-1ACEEAF49630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15B90-4B63-4244-806F-3AC9F3ED1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3242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5541B-72D8-4519-88D9-1ACEEAF49630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15B90-4B63-4244-806F-3AC9F3ED1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7453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5541B-72D8-4519-88D9-1ACEEAF49630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15B90-4B63-4244-806F-3AC9F3ED1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7832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5541B-72D8-4519-88D9-1ACEEAF49630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15B90-4B63-4244-806F-3AC9F3ED1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0190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5541B-72D8-4519-88D9-1ACEEAF49630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15B90-4B63-4244-806F-3AC9F3ED1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3600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5541B-72D8-4519-88D9-1ACEEAF49630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15B90-4B63-4244-806F-3AC9F3ED1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765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5541B-72D8-4519-88D9-1ACEEAF49630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15B90-4B63-4244-806F-3AC9F3ED1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5779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5541B-72D8-4519-88D9-1ACEEAF49630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15B90-4B63-4244-806F-3AC9F3ED1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207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5541B-72D8-4519-88D9-1ACEEAF49630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15B90-4B63-4244-806F-3AC9F3ED1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2732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5541B-72D8-4519-88D9-1ACEEAF49630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15B90-4B63-4244-806F-3AC9F3ED1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123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5541B-72D8-4519-88D9-1ACEEAF49630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15B90-4B63-4244-806F-3AC9F3ED1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85339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>
            <a:extLst>
              <a:ext uri="{FF2B5EF4-FFF2-40B4-BE49-F238E27FC236}">
                <a16:creationId xmlns:a16="http://schemas.microsoft.com/office/drawing/2014/main" id="{724AEB93-13D7-4B63-8604-6AA7FAB5D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7022" y="6202590"/>
            <a:ext cx="740508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r">
              <a:defRPr/>
            </a:pPr>
            <a:fld id="{BB9CB934-CB14-40C5-9FBB-BA951E36CC5E}" type="slidenum">
              <a:rPr lang="en-US" altLang="ko-KR" sz="750" b="1">
                <a:solidFill>
                  <a:schemeClr val="bg1">
                    <a:lumMod val="50000"/>
                  </a:schemeClr>
                </a:solidFill>
                <a:latin typeface="나눔스퀘어 Bold" panose="020B0600000101010101" pitchFamily="50" charset="-127"/>
                <a:ea typeface="굴림" pitchFamily="50" charset="-127"/>
                <a:cs typeface="Arial" pitchFamily="34" charset="0"/>
              </a:rPr>
              <a:pPr algn="r">
                <a:defRPr/>
              </a:pPr>
              <a:t>‹#›</a:t>
            </a:fld>
            <a:r>
              <a:rPr lang="en-US" altLang="ko-KR" sz="591" dirty="0">
                <a:solidFill>
                  <a:schemeClr val="bg1">
                    <a:lumMod val="50000"/>
                  </a:schemeClr>
                </a:solidFill>
                <a:latin typeface="나눔스퀘어 Bold" panose="020B0600000101010101" pitchFamily="50" charset="-127"/>
                <a:ea typeface="굴림" pitchFamily="50" charset="-127"/>
                <a:cs typeface="Arial" pitchFamily="34" charset="0"/>
              </a:rPr>
              <a:t>/ 14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4A4756-430B-46C6-9D72-DDFD929D96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3443" y="752857"/>
            <a:ext cx="11305117" cy="5727075"/>
          </a:xfrm>
        </p:spPr>
        <p:txBody>
          <a:bodyPr/>
          <a:lstStyle>
            <a:lvl1pPr marL="216005" indent="-385772">
              <a:buFont typeface="+mj-lt"/>
              <a:buAutoNum type="arabicPeriod"/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882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2B65541B-72D8-4519-88D9-1ACEEAF49630}" type="datetimeFigureOut">
              <a:rPr lang="ko-KR" altLang="en-US" smtClean="0"/>
              <a:pPr/>
              <a:t>2026-01-08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DB915B90-4B63-4244-806F-3AC9F3ED1EF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217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나눔스퀘어 Bold" panose="020B0600000101010101" pitchFamily="50" charset="-127"/>
          <a:ea typeface="나눔스퀘어 Bold" panose="020B0600000101010101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나눔스퀘어 Bold" panose="020B0600000101010101" pitchFamily="50" charset="-127"/>
          <a:ea typeface="나눔스퀘어 Bold" panose="020B0600000101010101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나눔스퀘어 Bold" panose="020B0600000101010101" pitchFamily="50" charset="-127"/>
          <a:ea typeface="나눔스퀘어 Bold" panose="020B0600000101010101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스퀘어 Bold" panose="020B0600000101010101" pitchFamily="50" charset="-127"/>
          <a:ea typeface="나눔스퀘어 Bold" panose="020B0600000101010101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 Bold" panose="020B0600000101010101" pitchFamily="50" charset="-127"/>
          <a:ea typeface="나눔스퀘어 Bold" panose="020B0600000101010101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 Bold" panose="020B0600000101010101" pitchFamily="50" charset="-127"/>
          <a:ea typeface="나눔스퀘어 Bold" panose="020B060000010101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>
            <a:extLst>
              <a:ext uri="{FF2B5EF4-FFF2-40B4-BE49-F238E27FC236}">
                <a16:creationId xmlns:a16="http://schemas.microsoft.com/office/drawing/2014/main" id="{E05651CD-256C-8CA5-78BA-F0DB7C66BA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84397" y="2735263"/>
            <a:ext cx="8763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D74BE28-CDFA-6062-4EC1-467702307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1523" y="2206626"/>
            <a:ext cx="90058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r" eaLnBrk="1" latinLnBrk="1" hangingPunct="1"/>
            <a:r>
              <a:rPr lang="ko-KR" altLang="en-US" sz="2800" b="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산업안전태깅</a:t>
            </a:r>
            <a:r>
              <a:rPr lang="ko-KR" altLang="en-US" sz="28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지침서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C728FC9-391C-F4CA-6140-24D219445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0134" y="2913063"/>
            <a:ext cx="4827588" cy="2233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r" eaLnBrk="1" latin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ko-KR" sz="20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IVX-AIMS-0822-I</a:t>
            </a:r>
            <a:br>
              <a:rPr lang="en-US" altLang="ko-KR" sz="2000" b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400" b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v3.0</a:t>
            </a:r>
            <a:endParaRPr lang="en-US" altLang="ko-KR" sz="14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r" eaLnBrk="1" latinLnBrk="1" hangingPunct="1">
              <a:lnSpc>
                <a:spcPct val="110000"/>
              </a:lnSpc>
              <a:spcBef>
                <a:spcPct val="10000"/>
              </a:spcBef>
            </a:pPr>
            <a:endParaRPr lang="ko-KR" altLang="en-US" sz="20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r" eaLnBrk="1" latin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ko-KR" sz="16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</a:t>
            </a:r>
            <a:r>
              <a:rPr lang="ko-KR" altLang="en-US" sz="16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6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Data</a:t>
            </a:r>
            <a:r>
              <a:rPr lang="ko-KR" altLang="en-US" sz="16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팀</a:t>
            </a:r>
            <a:endParaRPr lang="en-US" altLang="ko-KR" sz="16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r" eaLnBrk="1" latinLnBrk="1" hangingPunct="1">
              <a:lnSpc>
                <a:spcPct val="110000"/>
              </a:lnSpc>
              <a:spcBef>
                <a:spcPct val="10000"/>
              </a:spcBef>
            </a:pPr>
            <a:r>
              <a:rPr lang="ko-KR" altLang="en-US" sz="1200" b="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심홍석</a:t>
            </a:r>
            <a:r>
              <a:rPr lang="ko-KR" altLang="en-US" sz="12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대리</a:t>
            </a:r>
          </a:p>
          <a:p>
            <a:pPr algn="r" eaLnBrk="1" latinLnBrk="1" hangingPunct="1"/>
            <a:endParaRPr lang="en-US" altLang="ko-KR" sz="12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D74F2BDE-1BD4-1050-C557-967AFFA8D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8348" y="5802313"/>
            <a:ext cx="9083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latinLnBrk="1" hangingPunct="1"/>
            <a:r>
              <a:rPr lang="en-US" altLang="ko-KR" sz="12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Copyright © </a:t>
            </a:r>
            <a:r>
              <a:rPr lang="en-US" altLang="ko-KR" sz="1200" b="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IntelliVIX</a:t>
            </a:r>
            <a:endParaRPr lang="en-US" altLang="ko-KR" sz="12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 eaLnBrk="1" latinLnBrk="1" hangingPunct="1"/>
            <a:r>
              <a:rPr lang="en-US" altLang="ko-KR" sz="8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IntelliVIX</a:t>
            </a:r>
            <a:r>
              <a:rPr lang="ko-KR" altLang="en-US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사전 승인 없이 본 내용의 전부 또는 일부에 대한 복사</a:t>
            </a:r>
            <a:r>
              <a:rPr lang="en-US" altLang="ko-KR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전재</a:t>
            </a:r>
            <a:r>
              <a:rPr lang="en-US" altLang="ko-KR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배포</a:t>
            </a:r>
            <a:r>
              <a:rPr lang="en-US" altLang="ko-KR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사용을 금합니다</a:t>
            </a:r>
            <a:r>
              <a:rPr lang="en-US" altLang="ko-KR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690C8AF1-B853-AB6F-DCB8-B5E65C814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9404" y="1079500"/>
            <a:ext cx="499831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r" eaLnBrk="1" latinLnBrk="1" hangingPunct="1">
              <a:spcBef>
                <a:spcPct val="50000"/>
              </a:spcBef>
            </a:pPr>
            <a:r>
              <a:rPr lang="en-US" altLang="ko-KR" sz="20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AIMS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316DFF0-1E25-CDF6-A769-F60176778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911" y="1046164"/>
            <a:ext cx="21934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B16BCD4-051F-72CD-05AD-1D5141C84332}"/>
              </a:ext>
            </a:extLst>
          </p:cNvPr>
          <p:cNvGraphicFramePr>
            <a:graphicFrameLocks noGrp="1"/>
          </p:cNvGraphicFramePr>
          <p:nvPr/>
        </p:nvGraphicFramePr>
        <p:xfrm>
          <a:off x="8814103" y="160655"/>
          <a:ext cx="1733307" cy="61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769">
                  <a:extLst>
                    <a:ext uri="{9D8B030D-6E8A-4147-A177-3AD203B41FA5}">
                      <a16:colId xmlns:a16="http://schemas.microsoft.com/office/drawing/2014/main" val="1454478206"/>
                    </a:ext>
                  </a:extLst>
                </a:gridCol>
                <a:gridCol w="577769">
                  <a:extLst>
                    <a:ext uri="{9D8B030D-6E8A-4147-A177-3AD203B41FA5}">
                      <a16:colId xmlns:a16="http://schemas.microsoft.com/office/drawing/2014/main" val="65222542"/>
                    </a:ext>
                  </a:extLst>
                </a:gridCol>
                <a:gridCol w="577769">
                  <a:extLst>
                    <a:ext uri="{9D8B030D-6E8A-4147-A177-3AD203B41FA5}">
                      <a16:colId xmlns:a16="http://schemas.microsoft.com/office/drawing/2014/main" val="1742202260"/>
                    </a:ext>
                  </a:extLst>
                </a:gridCol>
              </a:tblGrid>
              <a:tr h="1536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일반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대외비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비밀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872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092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6105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6">
            <a:extLst>
              <a:ext uri="{FF2B5EF4-FFF2-40B4-BE49-F238E27FC236}">
                <a16:creationId xmlns:a16="http://schemas.microsoft.com/office/drawing/2014/main" id="{0811E5C6-DC32-482C-9C26-CF30F6CD00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5900" y="593936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 정 이 력</a:t>
            </a:r>
          </a:p>
        </p:txBody>
      </p:sp>
      <p:graphicFrame>
        <p:nvGraphicFramePr>
          <p:cNvPr id="7" name="Group 141">
            <a:extLst>
              <a:ext uri="{FF2B5EF4-FFF2-40B4-BE49-F238E27FC236}">
                <a16:creationId xmlns:a16="http://schemas.microsoft.com/office/drawing/2014/main" id="{096A4338-D822-4A70-8F8F-2B3AD5D835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239988"/>
              </p:ext>
            </p:extLst>
          </p:nvPr>
        </p:nvGraphicFramePr>
        <p:xfrm>
          <a:off x="1739154" y="1112031"/>
          <a:ext cx="8684941" cy="4907413"/>
        </p:xfrm>
        <a:graphic>
          <a:graphicData uri="http://schemas.openxmlformats.org/drawingml/2006/table">
            <a:tbl>
              <a:tblPr/>
              <a:tblGrid>
                <a:gridCol w="798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6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1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94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9482">
                  <a:extLst>
                    <a:ext uri="{9D8B030D-6E8A-4147-A177-3AD203B41FA5}">
                      <a16:colId xmlns:a16="http://schemas.microsoft.com/office/drawing/2014/main" val="1819693844"/>
                    </a:ext>
                  </a:extLst>
                </a:gridCol>
                <a:gridCol w="8694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버전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작성일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변경내용</a:t>
                      </a:r>
                      <a:endParaRPr kumimoji="1" lang="ko-KR" altLang="en-US" sz="12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작성자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검토자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승인자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v1.0 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2022-08-02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최초 작성 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심홍석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김지현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장정훈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v1.1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2022-10-24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내용 수정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심홍석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김지현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장정훈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v1.2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2022-12-12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내용 수정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심홍석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김지현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장정훈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0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v1.3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2023-06-28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내용 수정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심홍석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장대석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최준호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0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v1.4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2024-04-02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내용 수정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심홍석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장대석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최준호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0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V1.5 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2024-08-01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문서 표준 및 양식 전면 개정 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심홍석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장대석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김장현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최준호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0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V2.0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2025-03-26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클래스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변경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심홍석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장대석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최준호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0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V3.0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2026-01-08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문서 표준 및 양식 전면 개정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심홍석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장대석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최준호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60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60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7739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7AB62368-8EE5-2037-2C0C-36E3861B6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3481" y="760078"/>
            <a:ext cx="1600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/>
            <a:r>
              <a:rPr kumimoji="0" lang="ko-KR" altLang="en-US" sz="2400" b="1" u="sng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목 차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DF1BC913-69E8-9B51-E990-05F6BA59DD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9244" y="1582403"/>
            <a:ext cx="4291012" cy="2446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tabLst>
                <a:tab pos="1044575" algn="l"/>
              </a:tabLs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tabLst>
                <a:tab pos="1044575" algn="l"/>
              </a:tabLs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tabLst>
                <a:tab pos="1044575" algn="l"/>
              </a:tabLs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tabLst>
                <a:tab pos="1044575" algn="l"/>
              </a:tabLs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tabLst>
                <a:tab pos="1044575" algn="l"/>
              </a:tabLs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44575" algn="l"/>
              </a:tabLs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44575" algn="l"/>
              </a:tabLs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44575" algn="l"/>
              </a:tabLs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44575" algn="l"/>
              </a:tabLs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latinLnBrk="1" hangingPunct="1">
              <a:spcBef>
                <a:spcPct val="50000"/>
              </a:spcBef>
              <a:buFont typeface="Monotype Sorts" pitchFamily="2" charset="2"/>
              <a:buAutoNum type="arabicPeriod"/>
              <a:defRPr/>
            </a:pPr>
            <a:r>
              <a: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 프로젝트 목적</a:t>
            </a:r>
            <a:endParaRPr lang="en-US" altLang="ko-KR" sz="1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eaLnBrk="1" latinLnBrk="1" hangingPunct="1">
              <a:spcBef>
                <a:spcPct val="50000"/>
              </a:spcBef>
              <a:buFont typeface="Monotype Sorts" pitchFamily="2" charset="2"/>
              <a:buAutoNum type="arabicPeriod"/>
              <a:defRPr/>
            </a:pPr>
            <a:r>
              <a: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 프로젝트 특성</a:t>
            </a:r>
            <a:r>
              <a:rPr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산업안전</a:t>
            </a:r>
            <a:r>
              <a:rPr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pPr>
              <a:spcBef>
                <a:spcPct val="50000"/>
              </a:spcBef>
              <a:buFont typeface="Monotype Sorts" pitchFamily="2" charset="2"/>
              <a:buAutoNum type="arabicPeriod"/>
              <a:defRPr/>
            </a:pPr>
            <a:r>
              <a: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 작업 원칙</a:t>
            </a:r>
            <a:endParaRPr lang="en-US" altLang="ko-KR" sz="1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eaLnBrk="1" latinLnBrk="1" hangingPunct="1">
              <a:spcBef>
                <a:spcPct val="50000"/>
              </a:spcBef>
              <a:buFont typeface="Monotype Sorts" pitchFamily="2" charset="2"/>
              <a:buAutoNum type="arabicPeriod"/>
              <a:defRPr/>
            </a:pPr>
            <a:r>
              <a: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 클래스 정의</a:t>
            </a:r>
            <a:r>
              <a:rPr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산업안전</a:t>
            </a:r>
            <a:r>
              <a:rPr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pPr eaLnBrk="1" latinLnBrk="1" hangingPunct="1">
              <a:spcBef>
                <a:spcPct val="50000"/>
              </a:spcBef>
              <a:buFont typeface="Monotype Sorts" pitchFamily="2" charset="2"/>
              <a:buAutoNum type="arabicPeriod"/>
              <a:defRPr/>
            </a:pPr>
            <a:r>
              <a: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 작업 예시</a:t>
            </a:r>
            <a:endParaRPr lang="ko-KR" altLang="en-US" sz="1800" dirty="0">
              <a:latin typeface="나눔스퀘어 Bold" panose="020B0600000101010101" pitchFamily="50" charset="-127"/>
              <a:ea typeface="나눔스퀘어 Bold" panose="020B0600000101010101" pitchFamily="50" charset="-127"/>
              <a:sym typeface="Wingdings" panose="05000000000000000000" pitchFamily="2" charset="2"/>
            </a:endParaRPr>
          </a:p>
          <a:p>
            <a:pPr marL="0" indent="0">
              <a:spcBef>
                <a:spcPct val="50000"/>
              </a:spcBef>
              <a:defRPr/>
            </a:pPr>
            <a:endParaRPr lang="en-US" altLang="ko-KR" sz="1800" dirty="0">
              <a:latin typeface="나눔스퀘어 Bold" panose="020B0600000101010101" pitchFamily="50" charset="-127"/>
              <a:ea typeface="나눔스퀘어 Bold" panose="020B0600000101010101" pitchFamily="50" charset="-127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23136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77C051A-413E-4853-8729-E0FF63C4DA89}"/>
              </a:ext>
            </a:extLst>
          </p:cNvPr>
          <p:cNvSpPr txBox="1"/>
          <p:nvPr/>
        </p:nvSpPr>
        <p:spPr>
          <a:xfrm>
            <a:off x="1759471" y="701163"/>
            <a:ext cx="8327254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1500" b="1" dirty="0">
                <a:solidFill>
                  <a:srgbClr val="0070C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AI</a:t>
            </a:r>
            <a:r>
              <a:rPr lang="ko-KR" altLang="en-US" sz="1500" b="1" dirty="0">
                <a:solidFill>
                  <a:srgbClr val="0070C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학습 데이터란</a:t>
            </a:r>
            <a:r>
              <a:rPr lang="en-US" altLang="ko-KR" sz="1500" b="1" dirty="0">
                <a:solidFill>
                  <a:srgbClr val="0070C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?</a:t>
            </a:r>
          </a:p>
          <a:p>
            <a:pPr marL="800100" lvl="1" indent="-342900">
              <a:buFont typeface="맑은 고딕" panose="020B0503020000020004" pitchFamily="50" charset="-127"/>
              <a:buChar char="-"/>
            </a:pPr>
            <a:r>
              <a:rPr lang="ko-KR" altLang="en-US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목적에 맞는 </a:t>
            </a:r>
            <a:r>
              <a:rPr lang="ko-KR" altLang="en-US" sz="1500" b="1" u="sng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정답</a:t>
            </a:r>
            <a:r>
              <a:rPr lang="en-US" altLang="ko-KR" sz="1500" b="1" u="sng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(Ground Truth)</a:t>
            </a:r>
            <a:r>
              <a:rPr lang="ko-KR" altLang="en-US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과 주석 등 부가 정보를 부여하여</a:t>
            </a:r>
            <a:r>
              <a:rPr lang="en-US" altLang="ko-KR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모델 학습에 활용할 수 있는</a:t>
            </a:r>
            <a:r>
              <a:rPr lang="en-US" altLang="ko-KR" sz="14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lang="ko-KR" altLang="en-US" sz="14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학습데이터는 인공지능</a:t>
            </a:r>
            <a:r>
              <a:rPr lang="en-US" altLang="ko-KR" sz="14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(AI)</a:t>
            </a:r>
            <a:r>
              <a:rPr lang="ko-KR" altLang="en-US" sz="14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문제를 해결하고</a:t>
            </a:r>
            <a:r>
              <a:rPr lang="en-US" altLang="ko-KR" sz="14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4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결과를 내기 위해 사용하는 모든 종류의 데이터를 의미함</a:t>
            </a:r>
            <a:r>
              <a:rPr lang="en-US" altLang="ko-KR" sz="14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800100" lvl="1" indent="-342900">
              <a:buFont typeface="맑은 고딕" panose="020B0503020000020004" pitchFamily="50" charset="-127"/>
              <a:buChar char="-"/>
            </a:pPr>
            <a:r>
              <a:rPr lang="en-US" altLang="ko-KR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AI</a:t>
            </a:r>
            <a:r>
              <a:rPr lang="ko-KR" altLang="en-US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 데이터의 패턴과 구조를 효과적으로 학습할 수 있도록 설계된 데이터로</a:t>
            </a:r>
            <a:r>
              <a:rPr lang="en-US" altLang="ko-KR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정제</a:t>
            </a:r>
            <a:r>
              <a:rPr lang="en-US" altLang="ko-KR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500" dirty="0" err="1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라벨링</a:t>
            </a:r>
            <a:r>
              <a:rPr lang="ko-KR" altLang="en-US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등의 과정을 거쳐 편향</a:t>
            </a:r>
            <a:r>
              <a:rPr lang="en-US" altLang="ko-KR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잡음을 최소화한 모델 학습 최적화 형태의 가공데이터</a:t>
            </a:r>
            <a:endParaRPr lang="en-US" altLang="ko-KR" sz="1500" dirty="0">
              <a:solidFill>
                <a:srgbClr val="33333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500" b="1" dirty="0">
                <a:solidFill>
                  <a:srgbClr val="0070C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lang="ko-KR" altLang="en-US" sz="1500" b="1" dirty="0">
                <a:solidFill>
                  <a:srgbClr val="0070C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학습데이터</a:t>
            </a:r>
            <a:r>
              <a:rPr lang="en-US" altLang="ko-KR" sz="1500" b="1" dirty="0">
                <a:solidFill>
                  <a:srgbClr val="0070C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500" b="1" dirty="0">
                <a:solidFill>
                  <a:srgbClr val="0070C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가공</a:t>
            </a:r>
            <a:endParaRPr lang="en-US" altLang="ko-KR" sz="1400" b="1" dirty="0">
              <a:solidFill>
                <a:srgbClr val="33333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742950" lvl="1" indent="-285750">
              <a:buFont typeface="맑은 고딕" panose="020B0503020000020004" pitchFamily="50" charset="-127"/>
              <a:buChar char="-"/>
            </a:pPr>
            <a:r>
              <a:rPr lang="en-US" altLang="ko-KR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lang="ko-KR" altLang="en-US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학습 목적에 맞는 </a:t>
            </a:r>
            <a:r>
              <a:rPr lang="ko-KR" altLang="en-US" sz="1500" b="1" u="sng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정답</a:t>
            </a:r>
            <a:r>
              <a:rPr lang="en-US" altLang="ko-KR" sz="1500" b="1" u="sng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(Ground Truth)</a:t>
            </a:r>
            <a:r>
              <a:rPr lang="ko-KR" altLang="en-US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과 주석 등 부가 정보를 부여하여</a:t>
            </a:r>
            <a:r>
              <a:rPr lang="en-US" altLang="ko-KR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모델 학습에 활용할 수 있는 </a:t>
            </a:r>
            <a:r>
              <a:rPr lang="en-US" altLang="ko-KR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'</a:t>
            </a:r>
            <a:r>
              <a:rPr lang="ko-KR" altLang="en-US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학습데이터</a:t>
            </a:r>
            <a:r>
              <a:rPr lang="en-US" altLang="ko-KR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'</a:t>
            </a:r>
            <a:r>
              <a:rPr lang="ko-KR" altLang="en-US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 전환하는 과정</a:t>
            </a:r>
            <a:endParaRPr lang="en-US" altLang="ko-KR" sz="1500" dirty="0">
              <a:solidFill>
                <a:srgbClr val="33333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742950" lvl="1" indent="-285750">
              <a:buFont typeface="맑은 고딕" panose="020B0503020000020004" pitchFamily="50" charset="-127"/>
              <a:buChar char="-"/>
            </a:pPr>
            <a:r>
              <a:rPr lang="ko-KR" altLang="en-US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이미지</a:t>
            </a:r>
            <a:r>
              <a:rPr lang="en-US" altLang="ko-KR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영상 내 객체를 </a:t>
            </a:r>
            <a:r>
              <a:rPr lang="ko-KR" altLang="en-US" sz="1500" b="1" u="sng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일관성</a:t>
            </a:r>
            <a:r>
              <a:rPr lang="ko-KR" altLang="en-US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있게 식별할 수 있도록 분류 체계를 통일하여 적용</a:t>
            </a:r>
            <a:br>
              <a:rPr lang="ko-KR" altLang="en-US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endParaRPr lang="en-US" altLang="ko-KR" sz="1500" dirty="0">
              <a:solidFill>
                <a:srgbClr val="33333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/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742950" lvl="1" indent="-285750">
              <a:buFont typeface="맑은 고딕" panose="020B0503020000020004" pitchFamily="50" charset="-127"/>
              <a:buChar char="-"/>
            </a:pP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/>
            <a:endParaRPr lang="en-US" altLang="ko-KR" sz="1500" dirty="0">
              <a:solidFill>
                <a:srgbClr val="116699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524001" y="58397"/>
            <a:ext cx="4500563" cy="526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4000" tIns="54000" rIns="54000" bIns="40393">
            <a:spAutoFit/>
          </a:bodyPr>
          <a:lstStyle>
            <a:lvl1pPr marL="889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1pPr>
            <a:lvl2pPr marL="742950" indent="-28575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2pPr>
            <a:lvl3pPr marL="1143000" indent="-2286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3pPr>
            <a:lvl4pPr marL="1600200" indent="-2286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4pPr>
            <a:lvl5pPr marL="2057400" indent="-2286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9pPr>
          </a:lstStyle>
          <a:p>
            <a:pPr eaLnBrk="1" hangingPunct="1">
              <a:defRPr/>
            </a:pPr>
            <a:r>
              <a:rPr lang="en-US" altLang="ko-KR" sz="280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1. </a:t>
            </a:r>
            <a:r>
              <a:rPr lang="ko-KR" altLang="en-US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 프로젝트 목적</a:t>
            </a:r>
            <a:endParaRPr lang="en-US" altLang="ko-KR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6" name="그림 5" descr="텍스트, 원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527393-BE38-B9C0-87BA-E0E2C33B1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3978" y="3645243"/>
            <a:ext cx="5121172" cy="1777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102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78C9E-D98B-C804-0A83-828E83919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D8A7098-F098-00FB-D718-9A9A950E3432}"/>
              </a:ext>
            </a:extLst>
          </p:cNvPr>
          <p:cNvSpPr txBox="1"/>
          <p:nvPr/>
        </p:nvSpPr>
        <p:spPr>
          <a:xfrm>
            <a:off x="1759471" y="701163"/>
            <a:ext cx="8327254" cy="1677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1500" b="1" dirty="0">
                <a:solidFill>
                  <a:srgbClr val="0070C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산업안전 데이터</a:t>
            </a:r>
            <a:endParaRPr lang="en-US" altLang="ko-KR" sz="1500" b="1" dirty="0">
              <a:solidFill>
                <a:srgbClr val="0070C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buFont typeface="맑은 고딕" panose="020B0503020000020004" pitchFamily="50" charset="-127"/>
              <a:buChar char="-"/>
            </a:pPr>
            <a:r>
              <a:rPr lang="ko-KR" altLang="en-US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산업현장에 존재할 수 있는 다양한 객체들을 판단하고 검출할 수 있도록 학습 가능한 데이터</a:t>
            </a:r>
            <a:endParaRPr lang="en-US" altLang="ko-KR" sz="1500" dirty="0">
              <a:solidFill>
                <a:srgbClr val="33333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buFont typeface="맑은 고딕" panose="020B0503020000020004" pitchFamily="50" charset="-127"/>
              <a:buChar char="-"/>
            </a:pPr>
            <a:r>
              <a:rPr lang="ko-KR" altLang="en-US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주요 구성 요소로는 신체</a:t>
            </a:r>
            <a:r>
              <a:rPr lang="en-US" altLang="ko-KR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머리</a:t>
            </a:r>
            <a:r>
              <a:rPr lang="en-US" altLang="ko-KR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  <a:r>
              <a:rPr lang="ko-KR" altLang="en-US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상체</a:t>
            </a:r>
            <a:r>
              <a:rPr lang="en-US" altLang="ko-KR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  <a:r>
              <a:rPr lang="ko-KR" altLang="en-US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하체 등</a:t>
            </a:r>
            <a:r>
              <a:rPr lang="en-US" altLang="ko-KR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), </a:t>
            </a:r>
            <a:r>
              <a:rPr lang="ko-KR" altLang="en-US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중장비</a:t>
            </a:r>
            <a:r>
              <a:rPr lang="en-US" altLang="ko-KR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포크레인</a:t>
            </a:r>
            <a:r>
              <a:rPr lang="en-US" altLang="ko-KR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  <a:r>
              <a:rPr lang="ko-KR" altLang="en-US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지게차</a:t>
            </a:r>
            <a:r>
              <a:rPr lang="en-US" altLang="ko-KR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  <a:r>
              <a:rPr lang="ko-KR" altLang="en-US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레미콘 등</a:t>
            </a:r>
            <a:r>
              <a:rPr lang="en-US" altLang="ko-KR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  <a:r>
              <a:rPr lang="ko-KR" altLang="en-US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등으로 구성됨</a:t>
            </a:r>
            <a:endParaRPr lang="en-US" altLang="ko-KR" sz="1500" dirty="0">
              <a:solidFill>
                <a:srgbClr val="33333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buFont typeface="맑은 고딕" panose="020B0503020000020004" pitchFamily="50" charset="-127"/>
              <a:buChar char="-"/>
            </a:pPr>
            <a:r>
              <a:rPr lang="ko-KR" altLang="en-US" sz="1500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현장 특성상 원거리에서 촬영된 데이터들이 많아 객체 사이즈 확인에 유의할 것</a:t>
            </a:r>
            <a:endParaRPr lang="en-US" altLang="ko-KR" sz="1500" dirty="0">
              <a:solidFill>
                <a:srgbClr val="333333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/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742950" lvl="1" indent="-285750">
              <a:buFont typeface="맑은 고딕" panose="020B0503020000020004" pitchFamily="50" charset="-127"/>
              <a:buChar char="-"/>
            </a:pP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/>
            <a:endParaRPr lang="en-US" altLang="ko-KR" sz="1500" dirty="0">
              <a:solidFill>
                <a:srgbClr val="116699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E3CDA47F-F743-0021-511C-F60604C80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58397"/>
            <a:ext cx="5976550" cy="526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4000" tIns="54000" rIns="54000" bIns="40393">
            <a:spAutoFit/>
          </a:bodyPr>
          <a:lstStyle>
            <a:lvl1pPr marL="889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1pPr>
            <a:lvl2pPr marL="742950" indent="-28575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2pPr>
            <a:lvl3pPr marL="1143000" indent="-2286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3pPr>
            <a:lvl4pPr marL="1600200" indent="-2286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4pPr>
            <a:lvl5pPr marL="2057400" indent="-2286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9pPr>
          </a:lstStyle>
          <a:p>
            <a:pPr eaLnBrk="1" hangingPunct="1">
              <a:defRPr/>
            </a:pPr>
            <a:r>
              <a:rPr lang="en-US" altLang="ko-KR" sz="280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2. </a:t>
            </a:r>
            <a:r>
              <a:rPr lang="ko-KR" altLang="en-US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 프로젝트 특성</a:t>
            </a:r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산업안전</a:t>
            </a:r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202FC67-4101-E7DB-9D49-A0C9E5209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966" y="2230395"/>
            <a:ext cx="1772088" cy="364585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2730813-C90A-1190-9208-2893411FF5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665" b="29140"/>
          <a:stretch>
            <a:fillRect/>
          </a:stretch>
        </p:blipFill>
        <p:spPr>
          <a:xfrm>
            <a:off x="4723386" y="2754121"/>
            <a:ext cx="5773680" cy="2336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133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/>
          <p:cNvSpPr txBox="1">
            <a:spLocks/>
          </p:cNvSpPr>
          <p:nvPr/>
        </p:nvSpPr>
        <p:spPr>
          <a:xfrm>
            <a:off x="1524000" y="849314"/>
            <a:ext cx="7886700" cy="4351337"/>
          </a:xfrm>
          <a:prstGeom prst="rect">
            <a:avLst/>
          </a:prstGeom>
        </p:spPr>
        <p:txBody>
          <a:bodyPr>
            <a:normAutofit/>
          </a:bodyPr>
          <a:lstStyle>
            <a:lvl1pPr marL="316531" indent="-31653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2954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17" indent="-263776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2585">
                <a:solidFill>
                  <a:schemeClr val="tx1"/>
                </a:solidFill>
                <a:latin typeface="+mn-lt"/>
                <a:ea typeface="+mn-ea"/>
              </a:defRPr>
            </a:lvl2pPr>
            <a:lvl3pPr marL="1055103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2215">
                <a:solidFill>
                  <a:schemeClr val="tx1"/>
                </a:solidFill>
                <a:latin typeface="+mn-lt"/>
                <a:ea typeface="+mn-ea"/>
              </a:defRPr>
            </a:lvl3pPr>
            <a:lvl4pPr marL="1477145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4pPr>
            <a:lvl5pPr marL="1899186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5pPr>
            <a:lvl6pPr marL="2321227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6pPr>
            <a:lvl7pPr marL="2743269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7pPr>
            <a:lvl8pPr marL="3165310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8pPr>
            <a:lvl9pPr marL="3587351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altLang="ko-KR" sz="1050" kern="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7C051A-413E-4853-8729-E0FF63C4DA89}"/>
              </a:ext>
            </a:extLst>
          </p:cNvPr>
          <p:cNvSpPr txBox="1"/>
          <p:nvPr/>
        </p:nvSpPr>
        <p:spPr>
          <a:xfrm>
            <a:off x="1825841" y="620481"/>
            <a:ext cx="873506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1500" u="sng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객체의 외곽선에 여백이 없이 최대한 밀착할 것</a:t>
            </a:r>
            <a:r>
              <a:rPr lang="en-US" altLang="ko-KR" sz="1500" u="sng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en-US" altLang="ko-KR" sz="1500" kern="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15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모든 타겟은 </a:t>
            </a:r>
            <a:r>
              <a:rPr lang="ko-KR" altLang="en-US" sz="1500" kern="0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식별 가능</a:t>
            </a:r>
            <a:r>
              <a:rPr lang="en-US" altLang="ko-KR" sz="1500" kern="0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1500" kern="0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타겟 영역이 </a:t>
            </a:r>
            <a:r>
              <a:rPr lang="en-US" altLang="ko-KR" sz="1500" kern="0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50%</a:t>
            </a:r>
            <a:r>
              <a:rPr lang="ko-KR" altLang="en-US" sz="1500" kern="0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이상 보일 때 </a:t>
            </a:r>
            <a:r>
              <a:rPr lang="ko-KR" altLang="en-US" sz="1500" kern="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태깅하는</a:t>
            </a:r>
            <a:r>
              <a:rPr lang="ko-KR" altLang="en-US" sz="15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것을 원칙으로 함</a:t>
            </a:r>
            <a:endParaRPr lang="en-US" altLang="ko-KR" sz="1500" kern="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1500" kern="0" dirty="0" err="1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Body_upper</a:t>
            </a:r>
            <a:r>
              <a:rPr lang="ko-KR" altLang="en-US" sz="1500" kern="0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와 </a:t>
            </a:r>
            <a:r>
              <a:rPr lang="en-US" altLang="ko-KR" sz="1500" kern="0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Head </a:t>
            </a:r>
            <a:r>
              <a:rPr lang="ko-KR" altLang="en-US" sz="1500" kern="0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클래스는 분류에 맞게 </a:t>
            </a:r>
            <a:r>
              <a:rPr lang="ko-KR" altLang="en-US" sz="1500" kern="0" dirty="0" err="1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태깅</a:t>
            </a:r>
            <a:endParaRPr lang="en-US" altLang="ko-KR" sz="1500" kern="0" dirty="0">
              <a:solidFill>
                <a:srgbClr val="FF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15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Head class pixel</a:t>
            </a:r>
            <a:r>
              <a:rPr lang="ko-KR" altLang="en-US" sz="15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크기를 기준으로 나머지 </a:t>
            </a:r>
            <a:r>
              <a:rPr lang="en-US" altLang="ko-KR" sz="15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class </a:t>
            </a:r>
            <a:r>
              <a:rPr lang="ko-KR" altLang="en-US" sz="1500" kern="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태깅</a:t>
            </a:r>
            <a:r>
              <a:rPr lang="ko-KR" altLang="en-US" sz="15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결정</a:t>
            </a:r>
            <a:endParaRPr lang="en-US" altLang="ko-KR" sz="1500" kern="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머리 영역이 </a:t>
            </a:r>
            <a:r>
              <a:rPr lang="en-US" altLang="ko-KR" sz="14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18x18 pixel </a:t>
            </a:r>
            <a:r>
              <a:rPr lang="ko-KR" altLang="en-US" sz="14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이상인 경우 나머지 </a:t>
            </a:r>
            <a:r>
              <a:rPr lang="en-US" altLang="ko-KR" sz="14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class</a:t>
            </a:r>
            <a:r>
              <a:rPr lang="ko-KR" altLang="en-US" sz="14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들</a:t>
            </a:r>
            <a:r>
              <a:rPr lang="en-US" altLang="ko-KR" sz="14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4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안전 고리 제외</a:t>
            </a:r>
            <a:r>
              <a:rPr lang="en-US" altLang="ko-KR" sz="14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14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전부 </a:t>
            </a:r>
            <a:r>
              <a:rPr lang="ko-KR" altLang="en-US" sz="1400" kern="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태깅</a:t>
            </a:r>
            <a:endParaRPr lang="en-US" altLang="ko-KR" sz="1400" kern="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머리 영역이 </a:t>
            </a:r>
            <a:r>
              <a:rPr lang="en-US" altLang="ko-KR" sz="14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18x18 pixel </a:t>
            </a:r>
            <a:r>
              <a:rPr lang="ko-KR" altLang="en-US" sz="14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미만인 경우 </a:t>
            </a:r>
            <a:r>
              <a:rPr lang="en-US" altLang="ko-KR" sz="1400" kern="0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person class</a:t>
            </a:r>
            <a:r>
              <a:rPr lang="ko-KR" altLang="en-US" sz="1400" kern="0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만 </a:t>
            </a:r>
            <a:r>
              <a:rPr lang="ko-KR" altLang="en-US" sz="1400" kern="0" dirty="0" err="1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태깅</a:t>
            </a:r>
            <a:endParaRPr lang="en-US" altLang="ko-KR" sz="1400" kern="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709E4481-6442-F84A-56E2-D9567FF072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58397"/>
            <a:ext cx="5976550" cy="526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4000" tIns="54000" rIns="54000" bIns="40393">
            <a:spAutoFit/>
          </a:bodyPr>
          <a:lstStyle>
            <a:lvl1pPr marL="889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1pPr>
            <a:lvl2pPr marL="742950" indent="-28575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2pPr>
            <a:lvl3pPr marL="1143000" indent="-2286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3pPr>
            <a:lvl4pPr marL="1600200" indent="-2286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4pPr>
            <a:lvl5pPr marL="2057400" indent="-2286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9pPr>
          </a:lstStyle>
          <a:p>
            <a:pPr eaLnBrk="1" hangingPunct="1">
              <a:defRPr/>
            </a:pPr>
            <a:r>
              <a:rPr lang="en-US" altLang="ko-KR" sz="280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3. </a:t>
            </a:r>
            <a:r>
              <a:rPr lang="ko-KR" altLang="en-US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 작업 원칙</a:t>
            </a:r>
            <a:endParaRPr lang="en-US" altLang="ko-KR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0781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FF24D-6448-414D-2B7D-E3A49368A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DF7BBF1F-F805-FC0C-82B9-A4FA9712DFCD}"/>
              </a:ext>
            </a:extLst>
          </p:cNvPr>
          <p:cNvSpPr txBox="1">
            <a:spLocks/>
          </p:cNvSpPr>
          <p:nvPr/>
        </p:nvSpPr>
        <p:spPr>
          <a:xfrm>
            <a:off x="1524000" y="849314"/>
            <a:ext cx="7886700" cy="4351337"/>
          </a:xfrm>
          <a:prstGeom prst="rect">
            <a:avLst/>
          </a:prstGeom>
        </p:spPr>
        <p:txBody>
          <a:bodyPr>
            <a:normAutofit/>
          </a:bodyPr>
          <a:lstStyle>
            <a:lvl1pPr marL="316531" indent="-31653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2954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17" indent="-263776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2585">
                <a:solidFill>
                  <a:schemeClr val="tx1"/>
                </a:solidFill>
                <a:latin typeface="+mn-lt"/>
                <a:ea typeface="+mn-ea"/>
              </a:defRPr>
            </a:lvl2pPr>
            <a:lvl3pPr marL="1055103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2215">
                <a:solidFill>
                  <a:schemeClr val="tx1"/>
                </a:solidFill>
                <a:latin typeface="+mn-lt"/>
                <a:ea typeface="+mn-ea"/>
              </a:defRPr>
            </a:lvl3pPr>
            <a:lvl4pPr marL="1477145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4pPr>
            <a:lvl5pPr marL="1899186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5pPr>
            <a:lvl6pPr marL="2321227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6pPr>
            <a:lvl7pPr marL="2743269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7pPr>
            <a:lvl8pPr marL="3165310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8pPr>
            <a:lvl9pPr marL="3587351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altLang="ko-KR" sz="1050" kern="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57DF8F3-0E1C-7ED3-C669-98B79F2E26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30563"/>
              </p:ext>
            </p:extLst>
          </p:nvPr>
        </p:nvGraphicFramePr>
        <p:xfrm>
          <a:off x="920665" y="918208"/>
          <a:ext cx="9400782" cy="4820851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253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6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6092">
                  <a:extLst>
                    <a:ext uri="{9D8B030D-6E8A-4147-A177-3AD203B41FA5}">
                      <a16:colId xmlns:a16="http://schemas.microsoft.com/office/drawing/2014/main" val="2608184527"/>
                    </a:ext>
                  </a:extLst>
                </a:gridCol>
                <a:gridCol w="989556">
                  <a:extLst>
                    <a:ext uri="{9D8B030D-6E8A-4147-A177-3AD203B41FA5}">
                      <a16:colId xmlns:a16="http://schemas.microsoft.com/office/drawing/2014/main" val="1451611045"/>
                    </a:ext>
                  </a:extLst>
                </a:gridCol>
                <a:gridCol w="5805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57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idx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분류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class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태깅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기준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태깅</a:t>
                      </a:r>
                      <a:r>
                        <a:rPr lang="ko-KR" alt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기준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사람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Person(</a:t>
                      </a:r>
                      <a:r>
                        <a:rPr lang="ko-KR" alt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사람</a:t>
                      </a:r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solidFill>
                            <a:srgbClr val="FF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10x10px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자세 여부 상관없이 사람으로 식별되는 경우 </a:t>
                      </a:r>
                      <a:r>
                        <a:rPr lang="ko-KR" altLang="en-US" sz="1100" u="none" strike="noStrike" dirty="0" err="1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태깅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차량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VH_Car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차량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>
                          <a:solidFill>
                            <a:srgbClr val="FF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15x15px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뒤에 서술되어 있는 </a:t>
                      </a:r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VH</a:t>
                      </a:r>
                      <a:r>
                        <a:rPr lang="ko-KR" alt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객체 이외의 차량</a:t>
                      </a:r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지붕만 보이는 차량 제외</a:t>
                      </a:r>
                      <a:endParaRPr lang="en-US" altLang="ko-KR" sz="1100" dirty="0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상반신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err="1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Body_upper</a:t>
                      </a:r>
                      <a:r>
                        <a:rPr 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상반신</a:t>
                      </a:r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>
                          <a:solidFill>
                            <a:srgbClr val="FF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35x35px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안전조끼를 착용하지 않은</a:t>
                      </a:r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, </a:t>
                      </a:r>
                      <a:r>
                        <a:rPr lang="ko-KR" alt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어깨부터 팔을 포함하는 상반신</a:t>
                      </a:r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.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8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Body_upper_safety_vest(</a:t>
                      </a:r>
                      <a:r>
                        <a:rPr lang="ko-KR" alt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안전조끼</a:t>
                      </a:r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>
                          <a:solidFill>
                            <a:srgbClr val="FF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35x35px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안전조끼를 착용한 상반신</a:t>
                      </a:r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.</a:t>
                      </a:r>
                      <a:b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</a:br>
                      <a:r>
                        <a:rPr lang="ko-KR" alt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안전 조끼의 경우 </a:t>
                      </a:r>
                      <a:r>
                        <a:rPr lang="ko-KR" altLang="en-US" sz="1100" u="none" strike="noStrike" dirty="0">
                          <a:solidFill>
                            <a:srgbClr val="FF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형광</a:t>
                      </a:r>
                      <a:r>
                        <a:rPr lang="en-US" altLang="ko-KR" sz="1100" u="none" strike="noStrike" dirty="0">
                          <a:solidFill>
                            <a:srgbClr val="FF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/</a:t>
                      </a:r>
                      <a:r>
                        <a:rPr lang="ko-KR" altLang="en-US" sz="1100" u="none" strike="noStrike" dirty="0">
                          <a:solidFill>
                            <a:srgbClr val="FF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밝은 원색</a:t>
                      </a:r>
                      <a:r>
                        <a:rPr lang="ko-KR" alt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에 해당하는</a:t>
                      </a:r>
                      <a:r>
                        <a:rPr lang="ko-KR" altLang="en-US" sz="1100" u="none" strike="noStrike" baseline="0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작업현장에서의 안전 조끼 해당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8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안전장비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Body_harness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하네스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안전벨트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>
                          <a:solidFill>
                            <a:srgbClr val="FF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35x35px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작업자가 상반신에 착용한 안전벨트 객체 모두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태깅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  <a:p>
                      <a:pPr marL="0" marR="0" lvl="0" indent="0" algn="l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하네스를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두른 몸통 전체를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태깅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하반신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err="1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Body_lower</a:t>
                      </a:r>
                      <a:r>
                        <a:rPr 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하반신</a:t>
                      </a:r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>
                          <a:solidFill>
                            <a:srgbClr val="FF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35x35px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허리부터 발끝을 포함하는 하반신 전체 </a:t>
                      </a:r>
                      <a:endParaRPr lang="en-US" altLang="ko-KR" sz="1100" u="none" strike="noStrike" dirty="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7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머리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err="1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Head_no_gear</a:t>
                      </a:r>
                      <a:r>
                        <a:rPr 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모자 안 쓴 사람</a:t>
                      </a:r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>
                          <a:solidFill>
                            <a:srgbClr val="FF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15x15px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안전모</a:t>
                      </a:r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,</a:t>
                      </a:r>
                      <a:r>
                        <a:rPr lang="ko-KR" alt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모자를 쓰지 않은 모든 경우의 머리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88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err="1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Head_safety_gear</a:t>
                      </a:r>
                      <a:r>
                        <a:rPr 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안전모</a:t>
                      </a:r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>
                          <a:solidFill>
                            <a:srgbClr val="FF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15x15px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안전모를 쓰고 있는 머리</a:t>
                      </a:r>
                      <a:endParaRPr lang="en-US" altLang="ko-KR" sz="1100" u="none" strike="noStrike" dirty="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88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err="1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Head_hat</a:t>
                      </a:r>
                      <a:r>
                        <a:rPr 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일반모자</a:t>
                      </a:r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>
                          <a:solidFill>
                            <a:srgbClr val="FF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15x15px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안전모가 아닌 모자를 쓴 머리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00559825"/>
                  </a:ext>
                </a:extLst>
              </a:tr>
              <a:tr h="4988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Head_dust_cap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방진모자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>
                          <a:solidFill>
                            <a:srgbClr val="FF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15x15px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공장 등에서 사용하는 방진모를 쓴 머리</a:t>
                      </a:r>
                      <a:endParaRPr lang="en-US" altLang="ko-KR" sz="1100" u="none" strike="noStrike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37301229"/>
                  </a:ext>
                </a:extLst>
              </a:tr>
            </a:tbl>
          </a:graphicData>
        </a:graphic>
      </p:graphicFrame>
      <p:sp>
        <p:nvSpPr>
          <p:cNvPr id="2" name="Text Box 2">
            <a:extLst>
              <a:ext uri="{FF2B5EF4-FFF2-40B4-BE49-F238E27FC236}">
                <a16:creationId xmlns:a16="http://schemas.microsoft.com/office/drawing/2014/main" id="{03A5614C-5B40-FB55-1054-0C5B3C048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58397"/>
            <a:ext cx="5976550" cy="526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4000" tIns="54000" rIns="54000" bIns="40393">
            <a:spAutoFit/>
          </a:bodyPr>
          <a:lstStyle>
            <a:lvl1pPr marL="889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1pPr>
            <a:lvl2pPr marL="742950" indent="-28575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2pPr>
            <a:lvl3pPr marL="1143000" indent="-2286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3pPr>
            <a:lvl4pPr marL="1600200" indent="-2286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4pPr>
            <a:lvl5pPr marL="2057400" indent="-2286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9pPr>
          </a:lstStyle>
          <a:p>
            <a:pPr eaLnBrk="1" hangingPunct="1">
              <a:defRPr/>
            </a:pPr>
            <a:r>
              <a:rPr lang="en-US" altLang="ko-KR" sz="280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4. </a:t>
            </a:r>
            <a:r>
              <a:rPr lang="ko-KR" altLang="en-US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 클래스 정의</a:t>
            </a:r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산업안전</a:t>
            </a:r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78090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E871C-0D16-5531-D573-BABCA3EED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10E6E824-72A9-FE6B-32AC-CF96EC5D188D}"/>
              </a:ext>
            </a:extLst>
          </p:cNvPr>
          <p:cNvSpPr txBox="1">
            <a:spLocks/>
          </p:cNvSpPr>
          <p:nvPr/>
        </p:nvSpPr>
        <p:spPr>
          <a:xfrm>
            <a:off x="1524000" y="849314"/>
            <a:ext cx="7886700" cy="4351337"/>
          </a:xfrm>
          <a:prstGeom prst="rect">
            <a:avLst/>
          </a:prstGeom>
        </p:spPr>
        <p:txBody>
          <a:bodyPr>
            <a:normAutofit/>
          </a:bodyPr>
          <a:lstStyle>
            <a:lvl1pPr marL="316531" indent="-31653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2954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17" indent="-263776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2585">
                <a:solidFill>
                  <a:schemeClr val="tx1"/>
                </a:solidFill>
                <a:latin typeface="+mn-lt"/>
                <a:ea typeface="+mn-ea"/>
              </a:defRPr>
            </a:lvl2pPr>
            <a:lvl3pPr marL="1055103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2215">
                <a:solidFill>
                  <a:schemeClr val="tx1"/>
                </a:solidFill>
                <a:latin typeface="+mn-lt"/>
                <a:ea typeface="+mn-ea"/>
              </a:defRPr>
            </a:lvl3pPr>
            <a:lvl4pPr marL="1477145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4pPr>
            <a:lvl5pPr marL="1899186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5pPr>
            <a:lvl6pPr marL="2321227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6pPr>
            <a:lvl7pPr marL="2743269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7pPr>
            <a:lvl8pPr marL="3165310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8pPr>
            <a:lvl9pPr marL="3587351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altLang="ko-KR" sz="1050" kern="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5BFECED-C07F-D8C6-808C-E8120AD937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35594"/>
              </p:ext>
            </p:extLst>
          </p:nvPr>
        </p:nvGraphicFramePr>
        <p:xfrm>
          <a:off x="920665" y="918208"/>
          <a:ext cx="9400782" cy="4322029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253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6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6092">
                  <a:extLst>
                    <a:ext uri="{9D8B030D-6E8A-4147-A177-3AD203B41FA5}">
                      <a16:colId xmlns:a16="http://schemas.microsoft.com/office/drawing/2014/main" val="3091640230"/>
                    </a:ext>
                  </a:extLst>
                </a:gridCol>
                <a:gridCol w="989556">
                  <a:extLst>
                    <a:ext uri="{9D8B030D-6E8A-4147-A177-3AD203B41FA5}">
                      <a16:colId xmlns:a16="http://schemas.microsoft.com/office/drawing/2014/main" val="1451611045"/>
                    </a:ext>
                  </a:extLst>
                </a:gridCol>
                <a:gridCol w="5805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57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idx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분류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class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태깅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기준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태깅</a:t>
                      </a:r>
                      <a:r>
                        <a:rPr lang="ko-KR" alt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기준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안전장비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EQ_carabiner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안전고리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solidFill>
                            <a:srgbClr val="FF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20x20px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안전고리 객체</a:t>
                      </a:r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.</a:t>
                      </a:r>
                      <a:b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</a:br>
                      <a:r>
                        <a:rPr lang="ko-KR" altLang="en-US" sz="1100" u="none" strike="noStrike" dirty="0">
                          <a:solidFill>
                            <a:srgbClr val="FF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손바닥만한 크기의 </a:t>
                      </a:r>
                      <a:r>
                        <a:rPr lang="en-US" altLang="ko-KR" sz="1100" u="none" strike="noStrike" dirty="0">
                          <a:solidFill>
                            <a:srgbClr val="FF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D</a:t>
                      </a:r>
                      <a:r>
                        <a:rPr lang="ko-KR" altLang="en-US" sz="1100" u="none" strike="noStrike" dirty="0">
                          <a:solidFill>
                            <a:srgbClr val="FF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형 고리에 해당</a:t>
                      </a:r>
                      <a:r>
                        <a:rPr lang="en-US" altLang="ko-KR" sz="1100" u="none" strike="noStrike" dirty="0">
                          <a:solidFill>
                            <a:srgbClr val="FF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, </a:t>
                      </a:r>
                      <a:r>
                        <a:rPr lang="ko-KR" altLang="en-US" sz="1100" u="none" strike="noStrike" dirty="0">
                          <a:solidFill>
                            <a:srgbClr val="FF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작은 형태의 소형 </a:t>
                      </a:r>
                      <a:r>
                        <a:rPr lang="ko-KR" altLang="en-US" sz="1100" u="none" strike="noStrike" dirty="0" err="1">
                          <a:solidFill>
                            <a:srgbClr val="FF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카라비너는</a:t>
                      </a:r>
                      <a:r>
                        <a:rPr lang="ko-KR" altLang="en-US" sz="1100" u="none" strike="noStrike" dirty="0">
                          <a:solidFill>
                            <a:srgbClr val="FF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해당 안됨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안전장비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EQ_safety_block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안전블록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>
                          <a:solidFill>
                            <a:srgbClr val="FF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20x20px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안전블록 객체</a:t>
                      </a:r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.</a:t>
                      </a:r>
                      <a:endParaRPr lang="en-US" altLang="ko-KR" sz="1100" dirty="0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안전장비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err="1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EQ_traffic_cone</a:t>
                      </a:r>
                      <a:r>
                        <a:rPr 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1100" u="none" strike="noStrike" dirty="0" err="1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라바콘</a:t>
                      </a:r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>
                          <a:solidFill>
                            <a:srgbClr val="FF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20x20px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교통 안전 </a:t>
                      </a:r>
                      <a:r>
                        <a:rPr lang="ko-KR" altLang="en-US" sz="1100" u="none" strike="noStrike" dirty="0" err="1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라바콘</a:t>
                      </a:r>
                      <a:r>
                        <a:rPr lang="ko-KR" alt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객체</a:t>
                      </a:r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.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8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차량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err="1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VH_Two</a:t>
                      </a:r>
                      <a:r>
                        <a:rPr 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wheel(</a:t>
                      </a:r>
                      <a:r>
                        <a:rPr lang="ko-KR" alt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이륜차</a:t>
                      </a:r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>
                          <a:solidFill>
                            <a:srgbClr val="FF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15x15px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오토바이</a:t>
                      </a:r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, </a:t>
                      </a:r>
                      <a:r>
                        <a:rPr lang="ko-KR" alt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자전거</a:t>
                      </a:r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, </a:t>
                      </a:r>
                      <a:r>
                        <a:rPr lang="ko-KR" alt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전동 </a:t>
                      </a:r>
                      <a:r>
                        <a:rPr lang="ko-KR" altLang="en-US" sz="1100" u="none" strike="noStrike" dirty="0" err="1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킥보드</a:t>
                      </a:r>
                      <a:r>
                        <a:rPr lang="ko-KR" alt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포함 이륜차</a:t>
                      </a:r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.</a:t>
                      </a:r>
                    </a:p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사람 제외한 차량만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태깅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8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중장비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VH_fork_lift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지게차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>
                          <a:solidFill>
                            <a:srgbClr val="FF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15x15px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지게차 객체</a:t>
                      </a:r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.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err="1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VH_stacker</a:t>
                      </a:r>
                      <a:r>
                        <a:rPr 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1100" u="none" strike="noStrike" dirty="0" err="1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소형지게차</a:t>
                      </a:r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>
                          <a:solidFill>
                            <a:srgbClr val="FF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15x15px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사람이 탑승하는 </a:t>
                      </a:r>
                      <a:r>
                        <a:rPr lang="ko-KR" altLang="en-US" sz="1100" u="none" strike="noStrike" dirty="0" err="1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소형지게차</a:t>
                      </a:r>
                      <a:r>
                        <a:rPr lang="ko-KR" alt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</a:t>
                      </a:r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17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err="1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VH_excavator</a:t>
                      </a:r>
                      <a:r>
                        <a:rPr 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포크레인</a:t>
                      </a:r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>
                          <a:solidFill>
                            <a:srgbClr val="FF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15x15px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포크레인 객체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.</a:t>
                      </a:r>
                    </a:p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삽이 아닌 장치를 장착했더라도 포크레인으로 </a:t>
                      </a:r>
                      <a:r>
                        <a:rPr lang="ko-KR" altLang="en-US" sz="11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태깅</a:t>
                      </a:r>
                      <a:endParaRPr lang="en-US" altLang="ko-KR" sz="1100" b="0" i="0" u="none" strike="noStrike" dirty="0">
                        <a:solidFill>
                          <a:srgbClr val="FF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88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err="1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VH_remicon</a:t>
                      </a:r>
                      <a:r>
                        <a:rPr 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레미콘</a:t>
                      </a:r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>
                          <a:solidFill>
                            <a:srgbClr val="FF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15x15px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레미콘 객체</a:t>
                      </a:r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88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기타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ETC(</a:t>
                      </a:r>
                      <a:r>
                        <a:rPr lang="ko-KR" altLang="en-US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기타</a:t>
                      </a:r>
                      <a:r>
                        <a:rPr lang="en-US" altLang="ko-KR" sz="1100" u="none" strike="noStrike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>
                          <a:solidFill>
                            <a:srgbClr val="FF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15x15px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작업에서 기타로 설정해달라고 요청된 객체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00559825"/>
                  </a:ext>
                </a:extLst>
              </a:tr>
            </a:tbl>
          </a:graphicData>
        </a:graphic>
      </p:graphicFrame>
      <p:sp>
        <p:nvSpPr>
          <p:cNvPr id="3" name="Text Box 2">
            <a:extLst>
              <a:ext uri="{FF2B5EF4-FFF2-40B4-BE49-F238E27FC236}">
                <a16:creationId xmlns:a16="http://schemas.microsoft.com/office/drawing/2014/main" id="{D201898B-1E5F-06AE-F426-82EF2D0C9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58397"/>
            <a:ext cx="5976550" cy="526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4000" tIns="54000" rIns="54000" bIns="40393">
            <a:spAutoFit/>
          </a:bodyPr>
          <a:lstStyle>
            <a:lvl1pPr marL="889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1pPr>
            <a:lvl2pPr marL="742950" indent="-28575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2pPr>
            <a:lvl3pPr marL="1143000" indent="-2286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3pPr>
            <a:lvl4pPr marL="1600200" indent="-2286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4pPr>
            <a:lvl5pPr marL="2057400" indent="-2286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9pPr>
          </a:lstStyle>
          <a:p>
            <a:pPr eaLnBrk="1" hangingPunct="1">
              <a:defRPr/>
            </a:pPr>
            <a:r>
              <a:rPr lang="en-US" altLang="ko-KR" sz="280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4. </a:t>
            </a:r>
            <a:r>
              <a:rPr lang="ko-KR" altLang="en-US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 클래스 정의</a:t>
            </a:r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산업안전</a:t>
            </a:r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46475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1F3556B-7EF5-527E-40FD-0526CA6D0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928" y="995178"/>
            <a:ext cx="2324424" cy="4782217"/>
          </a:xfrm>
          <a:prstGeom prst="rect">
            <a:avLst/>
          </a:prstGeom>
        </p:spPr>
      </p:pic>
      <p:sp>
        <p:nvSpPr>
          <p:cNvPr id="5" name="내용 개체 틀 2"/>
          <p:cNvSpPr txBox="1">
            <a:spLocks/>
          </p:cNvSpPr>
          <p:nvPr/>
        </p:nvSpPr>
        <p:spPr>
          <a:xfrm>
            <a:off x="1524000" y="849314"/>
            <a:ext cx="7886700" cy="4351337"/>
          </a:xfrm>
          <a:prstGeom prst="rect">
            <a:avLst/>
          </a:prstGeom>
        </p:spPr>
        <p:txBody>
          <a:bodyPr>
            <a:normAutofit/>
          </a:bodyPr>
          <a:lstStyle>
            <a:lvl1pPr marL="316531" indent="-31653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2954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17" indent="-263776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2585">
                <a:solidFill>
                  <a:schemeClr val="tx1"/>
                </a:solidFill>
                <a:latin typeface="+mn-lt"/>
                <a:ea typeface="+mn-ea"/>
              </a:defRPr>
            </a:lvl2pPr>
            <a:lvl3pPr marL="1055103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2215">
                <a:solidFill>
                  <a:schemeClr val="tx1"/>
                </a:solidFill>
                <a:latin typeface="+mn-lt"/>
                <a:ea typeface="+mn-ea"/>
              </a:defRPr>
            </a:lvl3pPr>
            <a:lvl4pPr marL="1477145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4pPr>
            <a:lvl5pPr marL="1899186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5pPr>
            <a:lvl6pPr marL="2321227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6pPr>
            <a:lvl7pPr marL="2743269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7pPr>
            <a:lvl8pPr marL="3165310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8pPr>
            <a:lvl9pPr marL="3587351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altLang="ko-KR" sz="1050" kern="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A1C3F4A-4ECD-4EB9-978B-6ABA8A00E663}"/>
              </a:ext>
            </a:extLst>
          </p:cNvPr>
          <p:cNvGrpSpPr/>
          <p:nvPr/>
        </p:nvGrpSpPr>
        <p:grpSpPr>
          <a:xfrm>
            <a:off x="1289156" y="1080605"/>
            <a:ext cx="9353718" cy="4205473"/>
            <a:chOff x="-234844" y="1080604"/>
            <a:chExt cx="9353718" cy="420547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5DEE7CE-5798-4D7E-8B7D-6286B1FB2E77}"/>
                </a:ext>
              </a:extLst>
            </p:cNvPr>
            <p:cNvSpPr txBox="1"/>
            <p:nvPr/>
          </p:nvSpPr>
          <p:spPr>
            <a:xfrm>
              <a:off x="4527902" y="4208859"/>
              <a:ext cx="285502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b="1" dirty="0">
                  <a:solidFill>
                    <a:schemeClr val="accent2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--</a:t>
              </a:r>
              <a:r>
                <a:rPr lang="en-US" altLang="ko-KR" sz="3200" b="1" dirty="0" err="1">
                  <a:solidFill>
                    <a:schemeClr val="accent2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Lower_body</a:t>
              </a:r>
              <a:endParaRPr lang="en-US" altLang="ko-KR" sz="3200" b="1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r>
                <a:rPr lang="en-US" altLang="ko-KR" sz="3200" b="1" dirty="0">
                  <a:solidFill>
                    <a:schemeClr val="accent2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  (</a:t>
              </a:r>
              <a:r>
                <a:rPr lang="ko-KR" altLang="en-US" sz="3200" b="1" dirty="0">
                  <a:solidFill>
                    <a:schemeClr val="accent2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하반신</a:t>
              </a:r>
              <a:r>
                <a:rPr lang="en-US" altLang="ko-KR" sz="3200" b="1" dirty="0">
                  <a:solidFill>
                    <a:schemeClr val="accent2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)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3949EF6-598E-4786-BD1A-C9865DFFD542}"/>
                </a:ext>
              </a:extLst>
            </p:cNvPr>
            <p:cNvSpPr txBox="1"/>
            <p:nvPr/>
          </p:nvSpPr>
          <p:spPr>
            <a:xfrm>
              <a:off x="5142010" y="1080604"/>
              <a:ext cx="337827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b="1" dirty="0">
                  <a:solidFill>
                    <a:srgbClr val="66FF33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--- Person</a:t>
              </a:r>
            </a:p>
            <a:p>
              <a:r>
                <a:rPr lang="en-US" altLang="ko-KR" sz="3200" b="1" dirty="0">
                  <a:solidFill>
                    <a:srgbClr val="66FF33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   (</a:t>
              </a:r>
              <a:r>
                <a:rPr lang="ko-KR" altLang="en-US" sz="3200" b="1" dirty="0">
                  <a:solidFill>
                    <a:srgbClr val="66FF33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사람</a:t>
              </a:r>
              <a:r>
                <a:rPr lang="en-US" altLang="ko-KR" sz="3200" b="1" dirty="0">
                  <a:solidFill>
                    <a:srgbClr val="66FF33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)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6955E0C-E6D2-43D1-9CC9-5649D242CB65}"/>
                </a:ext>
              </a:extLst>
            </p:cNvPr>
            <p:cNvSpPr txBox="1"/>
            <p:nvPr/>
          </p:nvSpPr>
          <p:spPr>
            <a:xfrm>
              <a:off x="4821512" y="2475146"/>
              <a:ext cx="4297362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b="1" dirty="0">
                  <a:solidFill>
                    <a:srgbClr val="00206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--- </a:t>
              </a:r>
              <a:r>
                <a:rPr lang="en-US" altLang="ko-KR" sz="3200" b="1" dirty="0" err="1">
                  <a:solidFill>
                    <a:srgbClr val="00206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Body_upper</a:t>
              </a:r>
              <a:endParaRPr lang="en-US" altLang="ko-KR" sz="3200" b="1" dirty="0">
                <a:solidFill>
                  <a:srgbClr val="00206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r>
                <a:rPr lang="en-US" altLang="ko-KR" sz="3200" b="1" dirty="0">
                  <a:solidFill>
                    <a:srgbClr val="00206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   (</a:t>
              </a:r>
              <a:r>
                <a:rPr lang="ko-KR" altLang="en-US" sz="3200" b="1" dirty="0">
                  <a:solidFill>
                    <a:srgbClr val="00206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상반신</a:t>
              </a:r>
              <a:r>
                <a:rPr lang="en-US" altLang="ko-KR" sz="3200" b="1" dirty="0">
                  <a:solidFill>
                    <a:srgbClr val="00206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)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613013C-7635-4167-B793-A8B13CA89707}"/>
                </a:ext>
              </a:extLst>
            </p:cNvPr>
            <p:cNvSpPr txBox="1"/>
            <p:nvPr/>
          </p:nvSpPr>
          <p:spPr>
            <a:xfrm>
              <a:off x="-234844" y="1407548"/>
              <a:ext cx="430193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b="1" dirty="0" err="1">
                  <a:solidFill>
                    <a:srgbClr val="FF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Head_Safety_gear</a:t>
              </a:r>
              <a:r>
                <a:rPr lang="en-US" altLang="ko-KR" sz="3200" b="1" dirty="0">
                  <a:solidFill>
                    <a:srgbClr val="FF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--</a:t>
              </a:r>
            </a:p>
            <a:p>
              <a:r>
                <a:rPr lang="en-US" altLang="ko-KR" sz="3200" b="1" dirty="0">
                  <a:solidFill>
                    <a:srgbClr val="FF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(</a:t>
              </a:r>
              <a:r>
                <a:rPr lang="ko-KR" altLang="en-US" sz="3200" b="1" dirty="0">
                  <a:solidFill>
                    <a:srgbClr val="FF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안전모를 쓴 머리</a:t>
              </a:r>
              <a:r>
                <a:rPr lang="en-US" altLang="ko-KR" sz="3200" b="1" dirty="0">
                  <a:solidFill>
                    <a:srgbClr val="FF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)</a:t>
              </a:r>
            </a:p>
          </p:txBody>
        </p:sp>
      </p:grpSp>
      <p:sp>
        <p:nvSpPr>
          <p:cNvPr id="2" name="Text Box 2">
            <a:extLst>
              <a:ext uri="{FF2B5EF4-FFF2-40B4-BE49-F238E27FC236}">
                <a16:creationId xmlns:a16="http://schemas.microsoft.com/office/drawing/2014/main" id="{FFA2E0C5-89B1-07D9-40AF-35283CF760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58397"/>
            <a:ext cx="5976550" cy="526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4000" tIns="54000" rIns="54000" bIns="40393">
            <a:spAutoFit/>
          </a:bodyPr>
          <a:lstStyle>
            <a:lvl1pPr marL="889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1pPr>
            <a:lvl2pPr marL="742950" indent="-28575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2pPr>
            <a:lvl3pPr marL="1143000" indent="-2286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3pPr>
            <a:lvl4pPr marL="1600200" indent="-2286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4pPr>
            <a:lvl5pPr marL="2057400" indent="-2286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9pPr>
          </a:lstStyle>
          <a:p>
            <a:pPr eaLnBrk="1" hangingPunct="1">
              <a:defRPr/>
            </a:pPr>
            <a:r>
              <a:rPr lang="en-US" altLang="ko-KR" sz="280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5. </a:t>
            </a:r>
            <a:r>
              <a:rPr lang="ko-KR" altLang="en-US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 작업 예시</a:t>
            </a:r>
            <a:endParaRPr lang="en-US" altLang="ko-KR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9457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AF702-885A-A308-0AF1-16A5C9E84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A9B4BA26-21BB-07E0-AA44-C7DB496CE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271" y="505268"/>
            <a:ext cx="2543530" cy="5039428"/>
          </a:xfrm>
          <a:prstGeom prst="rect">
            <a:avLst/>
          </a:prstGeom>
        </p:spPr>
      </p:pic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CBFD3E47-8F3D-3F96-EEA4-3216900E0C94}"/>
              </a:ext>
            </a:extLst>
          </p:cNvPr>
          <p:cNvSpPr txBox="1">
            <a:spLocks/>
          </p:cNvSpPr>
          <p:nvPr/>
        </p:nvSpPr>
        <p:spPr>
          <a:xfrm>
            <a:off x="1524000" y="849314"/>
            <a:ext cx="7886700" cy="4351337"/>
          </a:xfrm>
          <a:prstGeom prst="rect">
            <a:avLst/>
          </a:prstGeom>
        </p:spPr>
        <p:txBody>
          <a:bodyPr>
            <a:normAutofit/>
          </a:bodyPr>
          <a:lstStyle>
            <a:lvl1pPr marL="316531" indent="-31653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2954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17" indent="-263776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2585">
                <a:solidFill>
                  <a:schemeClr val="tx1"/>
                </a:solidFill>
                <a:latin typeface="+mn-lt"/>
                <a:ea typeface="+mn-ea"/>
              </a:defRPr>
            </a:lvl2pPr>
            <a:lvl3pPr marL="1055103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2215">
                <a:solidFill>
                  <a:schemeClr val="tx1"/>
                </a:solidFill>
                <a:latin typeface="+mn-lt"/>
                <a:ea typeface="+mn-ea"/>
              </a:defRPr>
            </a:lvl3pPr>
            <a:lvl4pPr marL="1477145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4pPr>
            <a:lvl5pPr marL="1899186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5pPr>
            <a:lvl6pPr marL="2321227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6pPr>
            <a:lvl7pPr marL="2743269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7pPr>
            <a:lvl8pPr marL="3165310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8pPr>
            <a:lvl9pPr marL="3587351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altLang="ko-KR" sz="1050" kern="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095D9AF-0F3F-5D39-5161-00D49BF1F196}"/>
              </a:ext>
            </a:extLst>
          </p:cNvPr>
          <p:cNvGrpSpPr/>
          <p:nvPr/>
        </p:nvGrpSpPr>
        <p:grpSpPr>
          <a:xfrm>
            <a:off x="838219" y="1031768"/>
            <a:ext cx="10942509" cy="4254310"/>
            <a:chOff x="-685781" y="1031767"/>
            <a:chExt cx="10942509" cy="425431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90E3CE0-CBAA-2A43-B351-70D524923C5B}"/>
                </a:ext>
              </a:extLst>
            </p:cNvPr>
            <p:cNvSpPr txBox="1"/>
            <p:nvPr/>
          </p:nvSpPr>
          <p:spPr>
            <a:xfrm>
              <a:off x="4527902" y="4208859"/>
              <a:ext cx="285502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b="1" dirty="0">
                  <a:solidFill>
                    <a:schemeClr val="accent2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--</a:t>
              </a:r>
              <a:r>
                <a:rPr lang="en-US" altLang="ko-KR" sz="3200" b="1" dirty="0" err="1">
                  <a:solidFill>
                    <a:schemeClr val="accent2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Lower_body</a:t>
              </a:r>
              <a:endParaRPr lang="en-US" altLang="ko-KR" sz="3200" b="1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r>
                <a:rPr lang="en-US" altLang="ko-KR" sz="3200" b="1" dirty="0">
                  <a:solidFill>
                    <a:schemeClr val="accent2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  (</a:t>
              </a:r>
              <a:r>
                <a:rPr lang="ko-KR" altLang="en-US" sz="3200" b="1" dirty="0">
                  <a:solidFill>
                    <a:schemeClr val="accent2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하반신</a:t>
              </a:r>
              <a:r>
                <a:rPr lang="en-US" altLang="ko-KR" sz="3200" b="1" dirty="0">
                  <a:solidFill>
                    <a:schemeClr val="accent2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)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7942740-EF45-9A7C-4820-AB4A907DC0EA}"/>
                </a:ext>
              </a:extLst>
            </p:cNvPr>
            <p:cNvSpPr txBox="1"/>
            <p:nvPr/>
          </p:nvSpPr>
          <p:spPr>
            <a:xfrm>
              <a:off x="4922805" y="1031767"/>
              <a:ext cx="337827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b="1" dirty="0">
                  <a:solidFill>
                    <a:srgbClr val="66FF33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--- Person</a:t>
              </a:r>
            </a:p>
            <a:p>
              <a:r>
                <a:rPr lang="en-US" altLang="ko-KR" sz="3200" b="1" dirty="0">
                  <a:solidFill>
                    <a:srgbClr val="66FF33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   (</a:t>
              </a:r>
              <a:r>
                <a:rPr lang="ko-KR" altLang="en-US" sz="3200" b="1" dirty="0">
                  <a:solidFill>
                    <a:srgbClr val="66FF33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사람</a:t>
              </a:r>
              <a:r>
                <a:rPr lang="en-US" altLang="ko-KR" sz="3200" b="1" dirty="0">
                  <a:solidFill>
                    <a:srgbClr val="66FF33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)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5C7F3B3-763E-C38A-5FB3-BF7C667A4148}"/>
                </a:ext>
              </a:extLst>
            </p:cNvPr>
            <p:cNvSpPr txBox="1"/>
            <p:nvPr/>
          </p:nvSpPr>
          <p:spPr>
            <a:xfrm>
              <a:off x="4646147" y="2453031"/>
              <a:ext cx="5610581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b="1" dirty="0">
                  <a:solidFill>
                    <a:srgbClr val="7030A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--- </a:t>
              </a:r>
              <a:r>
                <a:rPr lang="en-US" altLang="ko-KR" sz="3200" b="1" dirty="0" err="1">
                  <a:solidFill>
                    <a:srgbClr val="7030A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Body_upper_safety_vest</a:t>
              </a:r>
              <a:endParaRPr lang="en-US" altLang="ko-KR" sz="3200" b="1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r>
                <a:rPr lang="en-US" altLang="ko-KR" sz="3200" b="1" dirty="0">
                  <a:solidFill>
                    <a:srgbClr val="7030A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   (</a:t>
              </a:r>
              <a:r>
                <a:rPr lang="ko-KR" altLang="en-US" sz="3200" b="1" dirty="0">
                  <a:solidFill>
                    <a:srgbClr val="7030A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안전조끼 상반신</a:t>
              </a:r>
              <a:r>
                <a:rPr lang="en-US" altLang="ko-KR" sz="3200" b="1" dirty="0">
                  <a:solidFill>
                    <a:srgbClr val="7030A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)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F3066C0-1AAA-F96B-522C-5641A0627F29}"/>
                </a:ext>
              </a:extLst>
            </p:cNvPr>
            <p:cNvSpPr txBox="1"/>
            <p:nvPr/>
          </p:nvSpPr>
          <p:spPr>
            <a:xfrm>
              <a:off x="-685781" y="1031767"/>
              <a:ext cx="430193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b="1" dirty="0" err="1">
                  <a:solidFill>
                    <a:srgbClr val="FF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Head_Safety_gear</a:t>
              </a:r>
              <a:r>
                <a:rPr lang="en-US" altLang="ko-KR" sz="3200" b="1" dirty="0">
                  <a:solidFill>
                    <a:srgbClr val="FF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--</a:t>
              </a:r>
            </a:p>
            <a:p>
              <a:r>
                <a:rPr lang="en-US" altLang="ko-KR" sz="3200" b="1" dirty="0">
                  <a:solidFill>
                    <a:srgbClr val="FF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(</a:t>
              </a:r>
              <a:r>
                <a:rPr lang="ko-KR" altLang="en-US" sz="3200" b="1" dirty="0">
                  <a:solidFill>
                    <a:srgbClr val="FF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안전모를 쓴 머리</a:t>
              </a:r>
              <a:r>
                <a:rPr lang="en-US" altLang="ko-KR" sz="3200" b="1" dirty="0">
                  <a:solidFill>
                    <a:srgbClr val="FF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)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6E5712D-8A04-FB38-7B34-6D0A295799C2}"/>
              </a:ext>
            </a:extLst>
          </p:cNvPr>
          <p:cNvSpPr txBox="1"/>
          <p:nvPr/>
        </p:nvSpPr>
        <p:spPr>
          <a:xfrm>
            <a:off x="1395920" y="2890391"/>
            <a:ext cx="430193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Body_harness</a:t>
            </a:r>
            <a:r>
              <a:rPr lang="en-US" altLang="ko-KR" sz="32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---</a:t>
            </a:r>
          </a:p>
          <a:p>
            <a:r>
              <a:rPr lang="en-US" altLang="ko-KR" sz="32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32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안전벨트</a:t>
            </a:r>
            <a:r>
              <a:rPr lang="en-US" altLang="ko-KR" sz="32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85C13160-4AA1-8FB4-2EF9-D31CA92F9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58397"/>
            <a:ext cx="5976550" cy="526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4000" tIns="54000" rIns="54000" bIns="40393">
            <a:spAutoFit/>
          </a:bodyPr>
          <a:lstStyle>
            <a:lvl1pPr marL="889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1pPr>
            <a:lvl2pPr marL="742950" indent="-28575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2pPr>
            <a:lvl3pPr marL="1143000" indent="-2286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3pPr>
            <a:lvl4pPr marL="1600200" indent="-2286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4pPr>
            <a:lvl5pPr marL="2057400" indent="-2286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9pPr>
          </a:lstStyle>
          <a:p>
            <a:pPr eaLnBrk="1" hangingPunct="1">
              <a:defRPr/>
            </a:pPr>
            <a:r>
              <a:rPr lang="en-US" altLang="ko-KR" sz="280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5. </a:t>
            </a:r>
            <a:r>
              <a:rPr lang="ko-KR" altLang="en-US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 작업 예시</a:t>
            </a:r>
            <a:endParaRPr lang="en-US" altLang="ko-KR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7143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/>
          <p:cNvSpPr txBox="1">
            <a:spLocks/>
          </p:cNvSpPr>
          <p:nvPr/>
        </p:nvSpPr>
        <p:spPr>
          <a:xfrm>
            <a:off x="1524000" y="849314"/>
            <a:ext cx="7886700" cy="4351337"/>
          </a:xfrm>
          <a:prstGeom prst="rect">
            <a:avLst/>
          </a:prstGeom>
        </p:spPr>
        <p:txBody>
          <a:bodyPr>
            <a:normAutofit/>
          </a:bodyPr>
          <a:lstStyle>
            <a:lvl1pPr marL="316531" indent="-31653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2954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17" indent="-263776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2585">
                <a:solidFill>
                  <a:schemeClr val="tx1"/>
                </a:solidFill>
                <a:latin typeface="+mn-lt"/>
                <a:ea typeface="+mn-ea"/>
              </a:defRPr>
            </a:lvl2pPr>
            <a:lvl3pPr marL="1055103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2215">
                <a:solidFill>
                  <a:schemeClr val="tx1"/>
                </a:solidFill>
                <a:latin typeface="+mn-lt"/>
                <a:ea typeface="+mn-ea"/>
              </a:defRPr>
            </a:lvl3pPr>
            <a:lvl4pPr marL="1477145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4pPr>
            <a:lvl5pPr marL="1899186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5pPr>
            <a:lvl6pPr marL="2321227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6pPr>
            <a:lvl7pPr marL="2743269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7pPr>
            <a:lvl8pPr marL="3165310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8pPr>
            <a:lvl9pPr marL="3587351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altLang="ko-KR" sz="1050" kern="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E4A96B33-8821-4D81-8AEF-18DA299B74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570"/>
          <a:stretch/>
        </p:blipFill>
        <p:spPr>
          <a:xfrm>
            <a:off x="2492211" y="764087"/>
            <a:ext cx="2233444" cy="2993437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D674E55-C272-4C2D-9BDB-A4C711F88795}"/>
              </a:ext>
            </a:extLst>
          </p:cNvPr>
          <p:cNvSpPr/>
          <p:nvPr/>
        </p:nvSpPr>
        <p:spPr bwMode="auto">
          <a:xfrm>
            <a:off x="3006485" y="1311106"/>
            <a:ext cx="244019" cy="617902"/>
          </a:xfrm>
          <a:prstGeom prst="rect">
            <a:avLst/>
          </a:prstGeom>
          <a:noFill/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000">
              <a:latin typeface="Arial" charset="0"/>
              <a:ea typeface="바탕체" pitchFamily="17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7CEDB8-1F23-4D54-98E9-8B8A2B5F335E}"/>
              </a:ext>
            </a:extLst>
          </p:cNvPr>
          <p:cNvSpPr txBox="1"/>
          <p:nvPr/>
        </p:nvSpPr>
        <p:spPr>
          <a:xfrm>
            <a:off x="217777" y="1371853"/>
            <a:ext cx="2368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>
                <a:solidFill>
                  <a:srgbClr val="00B0F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EQ_carabiner</a:t>
            </a:r>
            <a:r>
              <a:rPr lang="en-US" altLang="ko-KR" sz="1600" b="1" dirty="0">
                <a:solidFill>
                  <a:srgbClr val="00B0F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600" b="1" dirty="0">
                <a:solidFill>
                  <a:srgbClr val="00B0F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안전고리</a:t>
            </a:r>
            <a:r>
              <a:rPr lang="en-US" altLang="ko-KR" sz="1600" b="1" dirty="0">
                <a:solidFill>
                  <a:srgbClr val="00B0F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600" b="1" dirty="0">
              <a:solidFill>
                <a:srgbClr val="00B0F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04473C77-D2C1-4377-82A9-746C7E8614D7}"/>
              </a:ext>
            </a:extLst>
          </p:cNvPr>
          <p:cNvGrpSpPr/>
          <p:nvPr/>
        </p:nvGrpSpPr>
        <p:grpSpPr>
          <a:xfrm>
            <a:off x="2492210" y="3806166"/>
            <a:ext cx="1787285" cy="2993437"/>
            <a:chOff x="4450817" y="1416402"/>
            <a:chExt cx="3124200" cy="4351338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CC7041FB-5917-4B9F-9CFA-E17106A22F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50817" y="1416402"/>
              <a:ext cx="3124200" cy="4351338"/>
            </a:xfrm>
            <a:prstGeom prst="rect">
              <a:avLst/>
            </a:prstGeom>
          </p:spPr>
        </p:pic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DA8D4EAF-A9D7-41D8-9134-D14AD4149767}"/>
                </a:ext>
              </a:extLst>
            </p:cNvPr>
            <p:cNvSpPr/>
            <p:nvPr/>
          </p:nvSpPr>
          <p:spPr bwMode="auto">
            <a:xfrm>
              <a:off x="5357301" y="2289780"/>
              <a:ext cx="1643724" cy="2271586"/>
            </a:xfrm>
            <a:prstGeom prst="rect">
              <a:avLst/>
            </a:prstGeom>
            <a:noFill/>
            <a:ln w="38100" cap="flat" cmpd="sng" algn="ctr">
              <a:solidFill>
                <a:srgbClr val="FF5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000">
                <a:latin typeface="Arial" charset="0"/>
                <a:ea typeface="바탕체" pitchFamily="17" charset="-127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10D362C1-83E9-4A2C-BECF-07A08431F56B}"/>
              </a:ext>
            </a:extLst>
          </p:cNvPr>
          <p:cNvSpPr txBox="1"/>
          <p:nvPr/>
        </p:nvSpPr>
        <p:spPr>
          <a:xfrm>
            <a:off x="147460" y="4406993"/>
            <a:ext cx="2548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Body_harness</a:t>
            </a:r>
            <a:r>
              <a:rPr lang="en-US" altLang="ko-KR" sz="1600" b="1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600" b="1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안전벨트</a:t>
            </a:r>
            <a:r>
              <a:rPr lang="en-US" altLang="ko-KR" sz="1600" b="1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600" b="1" dirty="0">
              <a:solidFill>
                <a:srgbClr val="FF505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DE038F9-FCA1-3B9A-2A95-D658B5E5B5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5629" y="764087"/>
            <a:ext cx="2233444" cy="37685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73C437-56CD-55C3-6B8A-583DB0C442C0}"/>
              </a:ext>
            </a:extLst>
          </p:cNvPr>
          <p:cNvSpPr txBox="1"/>
          <p:nvPr/>
        </p:nvSpPr>
        <p:spPr>
          <a:xfrm>
            <a:off x="5145516" y="1371853"/>
            <a:ext cx="2616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>
                <a:solidFill>
                  <a:srgbClr val="00B0F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EQ_safety_block</a:t>
            </a:r>
            <a:r>
              <a:rPr lang="en-US" altLang="ko-KR" sz="1600" b="1" dirty="0">
                <a:solidFill>
                  <a:srgbClr val="00B0F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600" b="1" dirty="0">
                <a:solidFill>
                  <a:srgbClr val="00B0F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안전블록</a:t>
            </a:r>
            <a:r>
              <a:rPr lang="en-US" altLang="ko-KR" sz="1600" b="1" dirty="0">
                <a:solidFill>
                  <a:srgbClr val="00B0F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600" b="1" dirty="0">
              <a:solidFill>
                <a:srgbClr val="00B0F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B13DC10-9074-5DEE-AD9E-918E4EB200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0841" y="4617858"/>
            <a:ext cx="1400370" cy="16956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4793BA9-35E3-18DA-0031-47EA79C5E6AA}"/>
              </a:ext>
            </a:extLst>
          </p:cNvPr>
          <p:cNvSpPr txBox="1"/>
          <p:nvPr/>
        </p:nvSpPr>
        <p:spPr>
          <a:xfrm>
            <a:off x="5327667" y="4617858"/>
            <a:ext cx="2616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>
                <a:solidFill>
                  <a:srgbClr val="0000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EQ_traffic</a:t>
            </a:r>
            <a:r>
              <a:rPr lang="en-US" altLang="ko-KR" sz="1600" b="1" dirty="0">
                <a:solidFill>
                  <a:srgbClr val="0000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cone(</a:t>
            </a:r>
            <a:r>
              <a:rPr lang="ko-KR" altLang="en-US" sz="1600" b="1" dirty="0" err="1">
                <a:solidFill>
                  <a:srgbClr val="0000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라바콘</a:t>
            </a:r>
            <a:r>
              <a:rPr lang="en-US" altLang="ko-KR" sz="1600" b="1" dirty="0">
                <a:solidFill>
                  <a:srgbClr val="0000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600" b="1" dirty="0">
              <a:solidFill>
                <a:srgbClr val="0000F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953208E8-8F9B-C2C5-5AB6-9DD4E1EFF0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58397"/>
            <a:ext cx="5976550" cy="526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4000" tIns="54000" rIns="54000" bIns="40393">
            <a:spAutoFit/>
          </a:bodyPr>
          <a:lstStyle>
            <a:lvl1pPr marL="889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1pPr>
            <a:lvl2pPr marL="742950" indent="-28575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2pPr>
            <a:lvl3pPr marL="1143000" indent="-2286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3pPr>
            <a:lvl4pPr marL="1600200" indent="-2286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4pPr>
            <a:lvl5pPr marL="2057400" indent="-2286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9pPr>
          </a:lstStyle>
          <a:p>
            <a:pPr eaLnBrk="1" hangingPunct="1">
              <a:defRPr/>
            </a:pPr>
            <a:r>
              <a:rPr lang="en-US" altLang="ko-KR" sz="280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5. </a:t>
            </a:r>
            <a:r>
              <a:rPr lang="ko-KR" altLang="en-US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 작업 예시</a:t>
            </a:r>
            <a:endParaRPr lang="en-US" altLang="ko-KR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4442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1C814-C9BE-C48A-47E5-9328FB7D5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536C7173-FC71-B436-2C38-4FCA55A944BC}"/>
              </a:ext>
            </a:extLst>
          </p:cNvPr>
          <p:cNvSpPr txBox="1">
            <a:spLocks/>
          </p:cNvSpPr>
          <p:nvPr/>
        </p:nvSpPr>
        <p:spPr>
          <a:xfrm>
            <a:off x="1524000" y="849314"/>
            <a:ext cx="7886700" cy="4351337"/>
          </a:xfrm>
          <a:prstGeom prst="rect">
            <a:avLst/>
          </a:prstGeom>
        </p:spPr>
        <p:txBody>
          <a:bodyPr>
            <a:normAutofit/>
          </a:bodyPr>
          <a:lstStyle>
            <a:lvl1pPr marL="316531" indent="-31653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2954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17" indent="-263776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2585">
                <a:solidFill>
                  <a:schemeClr val="tx1"/>
                </a:solidFill>
                <a:latin typeface="+mn-lt"/>
                <a:ea typeface="+mn-ea"/>
              </a:defRPr>
            </a:lvl2pPr>
            <a:lvl3pPr marL="1055103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2215">
                <a:solidFill>
                  <a:schemeClr val="tx1"/>
                </a:solidFill>
                <a:latin typeface="+mn-lt"/>
                <a:ea typeface="+mn-ea"/>
              </a:defRPr>
            </a:lvl3pPr>
            <a:lvl4pPr marL="1477145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4pPr>
            <a:lvl5pPr marL="1899186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5pPr>
            <a:lvl6pPr marL="2321227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6pPr>
            <a:lvl7pPr marL="2743269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7pPr>
            <a:lvl8pPr marL="3165310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8pPr>
            <a:lvl9pPr marL="3587351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altLang="ko-KR" sz="1050" kern="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FB1F98-7F6F-23D6-41E7-D4AD3619518F}"/>
              </a:ext>
            </a:extLst>
          </p:cNvPr>
          <p:cNvSpPr txBox="1"/>
          <p:nvPr/>
        </p:nvSpPr>
        <p:spPr>
          <a:xfrm>
            <a:off x="519637" y="2183660"/>
            <a:ext cx="2368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VH_excavator</a:t>
            </a:r>
            <a:r>
              <a:rPr lang="en-US" altLang="ko-KR" sz="1600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600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포크레인</a:t>
            </a:r>
            <a:r>
              <a:rPr lang="en-US" altLang="ko-KR" sz="1600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600" b="1" dirty="0">
              <a:solidFill>
                <a:srgbClr val="FF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475FF71-AFF9-EA2E-9274-47F42C4E2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8046" y="849314"/>
            <a:ext cx="5513270" cy="4229955"/>
          </a:xfrm>
          <a:prstGeom prst="rect">
            <a:avLst/>
          </a:prstGeom>
        </p:spPr>
      </p:pic>
      <p:sp>
        <p:nvSpPr>
          <p:cNvPr id="2" name="Text Box 2">
            <a:extLst>
              <a:ext uri="{FF2B5EF4-FFF2-40B4-BE49-F238E27FC236}">
                <a16:creationId xmlns:a16="http://schemas.microsoft.com/office/drawing/2014/main" id="{BE8CDDAF-C3C0-C246-0C7F-A1801A510D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58397"/>
            <a:ext cx="5976550" cy="526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4000" tIns="54000" rIns="54000" bIns="40393">
            <a:spAutoFit/>
          </a:bodyPr>
          <a:lstStyle>
            <a:lvl1pPr marL="889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1pPr>
            <a:lvl2pPr marL="742950" indent="-28575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2pPr>
            <a:lvl3pPr marL="1143000" indent="-2286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3pPr>
            <a:lvl4pPr marL="1600200" indent="-2286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4pPr>
            <a:lvl5pPr marL="2057400" indent="-2286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9pPr>
          </a:lstStyle>
          <a:p>
            <a:pPr eaLnBrk="1" hangingPunct="1">
              <a:defRPr/>
            </a:pPr>
            <a:r>
              <a:rPr lang="en-US" altLang="ko-KR" sz="280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5. </a:t>
            </a:r>
            <a:r>
              <a:rPr lang="ko-KR" altLang="en-US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 작업 예시</a:t>
            </a:r>
            <a:endParaRPr lang="en-US" altLang="ko-KR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7036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84245-01AD-B348-98EE-37D34AFCB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81CE84AD-FE1A-908D-72B3-668B0748B2B2}"/>
              </a:ext>
            </a:extLst>
          </p:cNvPr>
          <p:cNvSpPr txBox="1">
            <a:spLocks/>
          </p:cNvSpPr>
          <p:nvPr/>
        </p:nvSpPr>
        <p:spPr>
          <a:xfrm>
            <a:off x="1524000" y="849314"/>
            <a:ext cx="7886700" cy="4351337"/>
          </a:xfrm>
          <a:prstGeom prst="rect">
            <a:avLst/>
          </a:prstGeom>
        </p:spPr>
        <p:txBody>
          <a:bodyPr>
            <a:normAutofit/>
          </a:bodyPr>
          <a:lstStyle>
            <a:lvl1pPr marL="316531" indent="-31653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2954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17" indent="-263776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2585">
                <a:solidFill>
                  <a:schemeClr val="tx1"/>
                </a:solidFill>
                <a:latin typeface="+mn-lt"/>
                <a:ea typeface="+mn-ea"/>
              </a:defRPr>
            </a:lvl2pPr>
            <a:lvl3pPr marL="1055103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2215">
                <a:solidFill>
                  <a:schemeClr val="tx1"/>
                </a:solidFill>
                <a:latin typeface="+mn-lt"/>
                <a:ea typeface="+mn-ea"/>
              </a:defRPr>
            </a:lvl3pPr>
            <a:lvl4pPr marL="1477145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4pPr>
            <a:lvl5pPr marL="1899186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5pPr>
            <a:lvl6pPr marL="2321227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6pPr>
            <a:lvl7pPr marL="2743269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7pPr>
            <a:lvl8pPr marL="3165310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8pPr>
            <a:lvl9pPr marL="3587351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altLang="ko-KR" sz="1050" kern="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3BE10F-E85D-7CBE-E16C-007738AF30CD}"/>
              </a:ext>
            </a:extLst>
          </p:cNvPr>
          <p:cNvSpPr txBox="1"/>
          <p:nvPr/>
        </p:nvSpPr>
        <p:spPr>
          <a:xfrm>
            <a:off x="912970" y="2382533"/>
            <a:ext cx="23688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0" i="0" u="none" strike="noStrike" dirty="0" err="1">
                <a:solidFill>
                  <a:srgbClr val="7030A0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VH_fork_lift</a:t>
            </a:r>
            <a:r>
              <a:rPr lang="en-US" altLang="ko-KR" sz="16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6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지게차</a:t>
            </a:r>
            <a:r>
              <a:rPr lang="en-US" altLang="ko-KR" sz="16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r>
              <a:rPr lang="en-US" altLang="ko-KR" sz="16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- </a:t>
            </a:r>
            <a:r>
              <a:rPr lang="ko-KR" altLang="en-US" sz="1600" b="1" dirty="0" err="1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적재물</a:t>
            </a:r>
            <a:r>
              <a:rPr lang="en-US" altLang="ko-KR" sz="1600" b="1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1600" b="1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포크 제외</a:t>
            </a:r>
            <a:endParaRPr lang="en-US" altLang="ko-KR" sz="1600" dirty="0">
              <a:solidFill>
                <a:srgbClr val="7030A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ko-KR" altLang="en-US" sz="1600" b="1" dirty="0">
              <a:solidFill>
                <a:srgbClr val="7030A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9710A07-3648-D1A9-0160-EEEFCBAE1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989" y="1657349"/>
            <a:ext cx="2785011" cy="2532503"/>
          </a:xfrm>
          <a:prstGeom prst="rect">
            <a:avLst/>
          </a:prstGeom>
        </p:spPr>
      </p:pic>
      <p:sp>
        <p:nvSpPr>
          <p:cNvPr id="4" name="Text Box 2">
            <a:extLst>
              <a:ext uri="{FF2B5EF4-FFF2-40B4-BE49-F238E27FC236}">
                <a16:creationId xmlns:a16="http://schemas.microsoft.com/office/drawing/2014/main" id="{8F3122B7-6029-2157-CA96-CB059420F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58397"/>
            <a:ext cx="5976550" cy="526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4000" tIns="54000" rIns="54000" bIns="40393">
            <a:spAutoFit/>
          </a:bodyPr>
          <a:lstStyle>
            <a:lvl1pPr marL="889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1pPr>
            <a:lvl2pPr marL="742950" indent="-28575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2pPr>
            <a:lvl3pPr marL="1143000" indent="-2286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3pPr>
            <a:lvl4pPr marL="1600200" indent="-2286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4pPr>
            <a:lvl5pPr marL="2057400" indent="-2286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9pPr>
          </a:lstStyle>
          <a:p>
            <a:pPr eaLnBrk="1" hangingPunct="1">
              <a:defRPr/>
            </a:pPr>
            <a:r>
              <a:rPr lang="en-US" altLang="ko-KR" sz="280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5. </a:t>
            </a:r>
            <a:r>
              <a:rPr lang="ko-KR" altLang="en-US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 작업 예시</a:t>
            </a:r>
            <a:endParaRPr lang="en-US" altLang="ko-KR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5742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9477C-4B1C-A52E-B392-3C2BBF1A0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6A952733-D21A-A767-7D9A-A60432534F36}"/>
              </a:ext>
            </a:extLst>
          </p:cNvPr>
          <p:cNvSpPr txBox="1">
            <a:spLocks/>
          </p:cNvSpPr>
          <p:nvPr/>
        </p:nvSpPr>
        <p:spPr>
          <a:xfrm>
            <a:off x="1524000" y="849314"/>
            <a:ext cx="7886700" cy="4351337"/>
          </a:xfrm>
          <a:prstGeom prst="rect">
            <a:avLst/>
          </a:prstGeom>
        </p:spPr>
        <p:txBody>
          <a:bodyPr>
            <a:normAutofit/>
          </a:bodyPr>
          <a:lstStyle>
            <a:lvl1pPr marL="316531" indent="-31653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2954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17" indent="-263776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2585">
                <a:solidFill>
                  <a:schemeClr val="tx1"/>
                </a:solidFill>
                <a:latin typeface="+mn-lt"/>
                <a:ea typeface="+mn-ea"/>
              </a:defRPr>
            </a:lvl2pPr>
            <a:lvl3pPr marL="1055103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2215">
                <a:solidFill>
                  <a:schemeClr val="tx1"/>
                </a:solidFill>
                <a:latin typeface="+mn-lt"/>
                <a:ea typeface="+mn-ea"/>
              </a:defRPr>
            </a:lvl3pPr>
            <a:lvl4pPr marL="1477145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4pPr>
            <a:lvl5pPr marL="1899186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5pPr>
            <a:lvl6pPr marL="2321227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6pPr>
            <a:lvl7pPr marL="2743269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7pPr>
            <a:lvl8pPr marL="3165310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8pPr>
            <a:lvl9pPr marL="3587351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altLang="ko-KR" sz="1050" kern="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C75961-50C8-0305-7F56-BD412CB03C44}"/>
              </a:ext>
            </a:extLst>
          </p:cNvPr>
          <p:cNvSpPr txBox="1"/>
          <p:nvPr/>
        </p:nvSpPr>
        <p:spPr>
          <a:xfrm>
            <a:off x="649925" y="2517985"/>
            <a:ext cx="2368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00B0F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리프트 </a:t>
            </a:r>
            <a:r>
              <a:rPr lang="en-US" altLang="ko-KR" sz="1600" b="1" dirty="0">
                <a:solidFill>
                  <a:srgbClr val="00B0F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– ETC</a:t>
            </a:r>
            <a:r>
              <a:rPr lang="ko-KR" altLang="en-US" sz="1600" b="1" dirty="0">
                <a:solidFill>
                  <a:srgbClr val="00B0F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</a:t>
            </a:r>
            <a:r>
              <a:rPr lang="ko-KR" altLang="en-US" sz="1600" b="1" dirty="0" err="1">
                <a:solidFill>
                  <a:srgbClr val="00B0F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태깅</a:t>
            </a:r>
            <a:endParaRPr lang="ko-KR" altLang="en-US" sz="1600" b="1" dirty="0">
              <a:solidFill>
                <a:srgbClr val="00B0F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55E916E-5D2A-BCD1-659D-0A13CB642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1973" y="697218"/>
            <a:ext cx="3496027" cy="386794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1460BB7-D603-197E-27E9-11B522FEF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878" y="640187"/>
            <a:ext cx="3791479" cy="3982006"/>
          </a:xfrm>
          <a:prstGeom prst="rect">
            <a:avLst/>
          </a:prstGeom>
        </p:spPr>
      </p:pic>
      <p:sp>
        <p:nvSpPr>
          <p:cNvPr id="2" name="Text Box 2">
            <a:extLst>
              <a:ext uri="{FF2B5EF4-FFF2-40B4-BE49-F238E27FC236}">
                <a16:creationId xmlns:a16="http://schemas.microsoft.com/office/drawing/2014/main" id="{274B2329-9C53-299F-9D57-A1C47602C7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58397"/>
            <a:ext cx="5976550" cy="526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4000" tIns="54000" rIns="54000" bIns="40393">
            <a:spAutoFit/>
          </a:bodyPr>
          <a:lstStyle>
            <a:lvl1pPr marL="889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1pPr>
            <a:lvl2pPr marL="742950" indent="-28575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2pPr>
            <a:lvl3pPr marL="1143000" indent="-2286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3pPr>
            <a:lvl4pPr marL="1600200" indent="-2286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4pPr>
            <a:lvl5pPr marL="2057400" indent="-2286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9pPr>
          </a:lstStyle>
          <a:p>
            <a:pPr eaLnBrk="1" hangingPunct="1">
              <a:defRPr/>
            </a:pPr>
            <a:r>
              <a:rPr lang="en-US" altLang="ko-KR" sz="280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5. </a:t>
            </a:r>
            <a:r>
              <a:rPr lang="ko-KR" altLang="en-US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 작업 예시</a:t>
            </a:r>
            <a:endParaRPr lang="en-US" altLang="ko-KR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9260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91600-0E12-A578-B9AF-9743F17ED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8D0120E0-B799-E825-032C-135BDBD9B563}"/>
              </a:ext>
            </a:extLst>
          </p:cNvPr>
          <p:cNvSpPr txBox="1">
            <a:spLocks/>
          </p:cNvSpPr>
          <p:nvPr/>
        </p:nvSpPr>
        <p:spPr>
          <a:xfrm>
            <a:off x="1524000" y="849314"/>
            <a:ext cx="7886700" cy="4351337"/>
          </a:xfrm>
          <a:prstGeom prst="rect">
            <a:avLst/>
          </a:prstGeom>
        </p:spPr>
        <p:txBody>
          <a:bodyPr>
            <a:normAutofit/>
          </a:bodyPr>
          <a:lstStyle>
            <a:lvl1pPr marL="316531" indent="-31653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2954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17" indent="-263776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2585">
                <a:solidFill>
                  <a:schemeClr val="tx1"/>
                </a:solidFill>
                <a:latin typeface="+mn-lt"/>
                <a:ea typeface="+mn-ea"/>
              </a:defRPr>
            </a:lvl2pPr>
            <a:lvl3pPr marL="1055103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2215">
                <a:solidFill>
                  <a:schemeClr val="tx1"/>
                </a:solidFill>
                <a:latin typeface="+mn-lt"/>
                <a:ea typeface="+mn-ea"/>
              </a:defRPr>
            </a:lvl3pPr>
            <a:lvl4pPr marL="1477145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4pPr>
            <a:lvl5pPr marL="1899186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5pPr>
            <a:lvl6pPr marL="2321227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6pPr>
            <a:lvl7pPr marL="2743269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7pPr>
            <a:lvl8pPr marL="3165310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8pPr>
            <a:lvl9pPr marL="3587351" indent="-211021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1846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altLang="ko-KR" sz="1050" kern="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366BD9-598F-25B8-367C-7A8D917B98CB}"/>
              </a:ext>
            </a:extLst>
          </p:cNvPr>
          <p:cNvSpPr txBox="1"/>
          <p:nvPr/>
        </p:nvSpPr>
        <p:spPr>
          <a:xfrm>
            <a:off x="823228" y="2193985"/>
            <a:ext cx="31266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VH_Car</a:t>
            </a:r>
            <a:r>
              <a:rPr lang="en-US" altLang="ko-KR" sz="1600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600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차량</a:t>
            </a:r>
            <a:r>
              <a:rPr lang="en-US" altLang="ko-KR" sz="1600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r>
              <a:rPr lang="en-US" altLang="ko-KR" sz="1600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- </a:t>
            </a:r>
            <a:r>
              <a:rPr lang="ko-KR" altLang="en-US" sz="1600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유조차</a:t>
            </a:r>
            <a:r>
              <a:rPr lang="en-US" altLang="ko-KR" sz="1600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덤프트럭</a:t>
            </a:r>
            <a:r>
              <a:rPr lang="en-US" altLang="ko-KR" sz="1600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크레인 트럭도 일반 차량으로 판단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CAEEC6C-8232-B21A-ADE8-4740EA40C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585" y="1092136"/>
            <a:ext cx="6321440" cy="3297877"/>
          </a:xfrm>
          <a:prstGeom prst="rect">
            <a:avLst/>
          </a:prstGeom>
        </p:spPr>
      </p:pic>
      <p:sp>
        <p:nvSpPr>
          <p:cNvPr id="2" name="Text Box 2">
            <a:extLst>
              <a:ext uri="{FF2B5EF4-FFF2-40B4-BE49-F238E27FC236}">
                <a16:creationId xmlns:a16="http://schemas.microsoft.com/office/drawing/2014/main" id="{8BB4F768-0D15-FE16-3CAA-C94C8C5ECF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58397"/>
            <a:ext cx="5976550" cy="526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4000" tIns="54000" rIns="54000" bIns="40393">
            <a:spAutoFit/>
          </a:bodyPr>
          <a:lstStyle>
            <a:lvl1pPr marL="889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1pPr>
            <a:lvl2pPr marL="742950" indent="-28575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2pPr>
            <a:lvl3pPr marL="1143000" indent="-2286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3pPr>
            <a:lvl4pPr marL="1600200" indent="-2286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4pPr>
            <a:lvl5pPr marL="2057400" indent="-228600" eaLnBrk="0" hangingPunct="0"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kumimoji="1" sz="1000" b="1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9pPr>
          </a:lstStyle>
          <a:p>
            <a:pPr eaLnBrk="1" hangingPunct="1">
              <a:defRPr/>
            </a:pPr>
            <a:r>
              <a:rPr lang="en-US" altLang="ko-KR" sz="280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5. </a:t>
            </a:r>
            <a:r>
              <a:rPr lang="ko-KR" altLang="en-US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 작업 예시</a:t>
            </a:r>
            <a:endParaRPr lang="en-US" altLang="ko-KR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919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841</TotalTime>
  <Words>928</Words>
  <Application>Microsoft Office PowerPoint</Application>
  <PresentationFormat>와이드스크린</PresentationFormat>
  <Paragraphs>234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Monotype Sorts</vt:lpstr>
      <vt:lpstr>나눔스퀘어</vt:lpstr>
      <vt:lpstr>나눔스퀘어 Bold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psw</dc:creator>
  <cp:lastModifiedBy>심홍석</cp:lastModifiedBy>
  <cp:revision>171</cp:revision>
  <dcterms:created xsi:type="dcterms:W3CDTF">2021-12-20T00:25:55Z</dcterms:created>
  <dcterms:modified xsi:type="dcterms:W3CDTF">2026-01-08T05:35:29Z</dcterms:modified>
</cp:coreProperties>
</file>