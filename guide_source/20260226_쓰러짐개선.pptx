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7" r:id="rId1"/>
  </p:sldMasterIdLst>
  <p:notesMasterIdLst>
    <p:notesMasterId r:id="rId8"/>
  </p:notesMasterIdLst>
  <p:handoutMasterIdLst>
    <p:handoutMasterId r:id="rId9"/>
  </p:handoutMasterIdLst>
  <p:sldIdLst>
    <p:sldId id="262" r:id="rId2"/>
    <p:sldId id="275" r:id="rId3"/>
    <p:sldId id="277" r:id="rId4"/>
    <p:sldId id="278" r:id="rId5"/>
    <p:sldId id="279" r:id="rId6"/>
    <p:sldId id="280" r:id="rId7"/>
  </p:sldIdLst>
  <p:sldSz cx="9144000" cy="6858000" type="screen4x3"/>
  <p:notesSz cx="6858000" cy="9144000"/>
  <p:embeddedFontLst>
    <p:embeddedFont>
      <p:font typeface="나눔스퀘어 Bold" panose="020B0600000101010101" pitchFamily="50" charset="-127"/>
      <p:bold r:id="rId10"/>
    </p:embeddedFont>
    <p:embeddedFont>
      <p:font typeface="나눔스퀘어 ExtraBold" panose="020B0600000101010101" pitchFamily="50" charset="-127"/>
      <p:bold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05" autoAdjust="0"/>
    <p:restoredTop sz="94614" autoAdjust="0"/>
  </p:normalViewPr>
  <p:slideViewPr>
    <p:cSldViewPr snapToGrid="0">
      <p:cViewPr varScale="1">
        <p:scale>
          <a:sx n="150" d="100"/>
          <a:sy n="150" d="100"/>
        </p:scale>
        <p:origin x="301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70FE20D-2F39-4046-8D13-22060669D3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B3CC3A-1FCF-4EE7-BF46-F57E4AA2E5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B8DA7-C608-4D63-BE66-3EB5D23C025F}" type="datetimeFigureOut">
              <a:rPr lang="ko-KR" altLang="en-US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2026-03-04</a:t>
            </a:fld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CC5FC4-0FFE-4882-8725-09ACA69A51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ECD04F-1631-4F40-AE2A-01FFE08354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0D453-579D-45DD-8EDF-A6E00F309294}" type="slidenum">
              <a:rPr lang="ko-KR" altLang="en-US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‹#›</a:t>
            </a:fld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16692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CA1AB1FF-CDC8-483D-9636-831D2BB178E2}" type="datetimeFigureOut">
              <a:rPr lang="ko-KR" altLang="en-US" smtClean="0"/>
              <a:pPr/>
              <a:t>2026-03-04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3F5E2298-A224-497E-A75C-ECBD239685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24640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4713" y="749300"/>
            <a:ext cx="4910137" cy="3683000"/>
          </a:xfrm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4686300"/>
            <a:ext cx="4883150" cy="44402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422405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86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33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lliV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2">
            <a:extLst>
              <a:ext uri="{FF2B5EF4-FFF2-40B4-BE49-F238E27FC236}">
                <a16:creationId xmlns:a16="http://schemas.microsoft.com/office/drawing/2014/main" id="{7F1CAEF8-9DEA-4C0B-BBD8-6EE4F59B72C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45956" y="92496"/>
            <a:ext cx="321178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산출물명</a:t>
            </a: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A6F26526-425A-43C2-AF0F-691D5B7E43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3006" y="82971"/>
            <a:ext cx="37973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프로젝트명</a:t>
            </a:r>
          </a:p>
        </p:txBody>
      </p:sp>
    </p:spTree>
    <p:extLst>
      <p:ext uri="{BB962C8B-B14F-4D97-AF65-F5344CB8AC3E}">
        <p14:creationId xmlns:p14="http://schemas.microsoft.com/office/powerpoint/2010/main" val="132952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51">
            <a:extLst>
              <a:ext uri="{FF2B5EF4-FFF2-40B4-BE49-F238E27FC236}">
                <a16:creationId xmlns:a16="http://schemas.microsoft.com/office/drawing/2014/main" id="{FD805329-AD4A-49B2-AE01-A6A31FB5FCBD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99206" y="361682"/>
            <a:ext cx="9044794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1" name="Text Box 36">
            <a:extLst>
              <a:ext uri="{FF2B5EF4-FFF2-40B4-BE49-F238E27FC236}">
                <a16:creationId xmlns:a16="http://schemas.microsoft.com/office/drawing/2014/main" id="{9E6F9D30-16F9-469F-AE0D-B4D32134B2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892368" y="6583363"/>
            <a:ext cx="854075" cy="2616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3674975C-C355-4842-BACA-3BC177A62366}" type="slidenum">
              <a:rPr lang="en-US" altLang="ko-KR" sz="110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 Box 52">
            <a:extLst>
              <a:ext uri="{FF2B5EF4-FFF2-40B4-BE49-F238E27FC236}">
                <a16:creationId xmlns:a16="http://schemas.microsoft.com/office/drawing/2014/main" id="{CC6DBBE8-5820-4F89-BEC3-F8B7E69277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2231" y="6575425"/>
            <a:ext cx="379730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Ver 1.0</a:t>
            </a:r>
          </a:p>
        </p:txBody>
      </p:sp>
      <p:sp>
        <p:nvSpPr>
          <p:cNvPr id="13" name="Line 58">
            <a:extLst>
              <a:ext uri="{FF2B5EF4-FFF2-40B4-BE49-F238E27FC236}">
                <a16:creationId xmlns:a16="http://schemas.microsoft.com/office/drawing/2014/main" id="{6DC1E0D7-836F-4C9E-BB10-E58E2B69830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9622" y="6556374"/>
            <a:ext cx="904437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dirty="0"/>
          </a:p>
        </p:txBody>
      </p:sp>
      <p:sp>
        <p:nvSpPr>
          <p:cNvPr id="14" name="Text Box 44">
            <a:extLst>
              <a:ext uri="{FF2B5EF4-FFF2-40B4-BE49-F238E27FC236}">
                <a16:creationId xmlns:a16="http://schemas.microsoft.com/office/drawing/2014/main" id="{E7468285-3768-4A2C-91EA-135714684D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1503" y="6549905"/>
            <a:ext cx="37973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ko-KR" sz="1100" b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IntelliVIX</a:t>
            </a:r>
            <a:endParaRPr lang="ko-KR" altLang="en-US" sz="11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382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5pPr>
      <a:lvl6pPr marL="422041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6pPr>
      <a:lvl7pPr marL="844083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7pPr>
      <a:lvl8pPr marL="1266124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8pPr>
      <a:lvl9pPr marL="1688165" algn="ctr" rtl="0" fontAlgn="base">
        <a:spcBef>
          <a:spcPct val="0"/>
        </a:spcBef>
        <a:spcAft>
          <a:spcPct val="0"/>
        </a:spcAft>
        <a:defRPr kumimoji="1" sz="4062">
          <a:solidFill>
            <a:schemeClr val="tx2"/>
          </a:solidFill>
          <a:latin typeface="Arial" charset="0"/>
          <a:ea typeface="돋움" pitchFamily="50" charset="-127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har char="•"/>
        <a:defRPr kumimoji="1" sz="2954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rtl="0" eaLnBrk="0" fontAlgn="base" hangingPunct="0">
        <a:spcBef>
          <a:spcPct val="20000"/>
        </a:spcBef>
        <a:spcAft>
          <a:spcPct val="0"/>
        </a:spcAft>
        <a:buChar char="–"/>
        <a:defRPr kumimoji="1" sz="2585">
          <a:solidFill>
            <a:schemeClr val="tx1"/>
          </a:solidFill>
          <a:latin typeface="+mn-lt"/>
          <a:ea typeface="+mn-ea"/>
        </a:defRPr>
      </a:lvl2pPr>
      <a:lvl3pPr marL="1055103" indent="-211021" algn="l" rtl="0" eaLnBrk="0" fontAlgn="base" hangingPunct="0">
        <a:spcBef>
          <a:spcPct val="20000"/>
        </a:spcBef>
        <a:spcAft>
          <a:spcPct val="0"/>
        </a:spcAft>
        <a:buChar char="•"/>
        <a:defRPr kumimoji="1" sz="2215">
          <a:solidFill>
            <a:schemeClr val="tx1"/>
          </a:solidFill>
          <a:latin typeface="+mn-lt"/>
          <a:ea typeface="+mn-ea"/>
        </a:defRPr>
      </a:lvl3pPr>
      <a:lvl4pPr marL="1477145" indent="-211021" algn="l" rtl="0" eaLnBrk="0" fontAlgn="base" hangingPunct="0">
        <a:spcBef>
          <a:spcPct val="20000"/>
        </a:spcBef>
        <a:spcAft>
          <a:spcPct val="0"/>
        </a:spcAft>
        <a:buChar char="–"/>
        <a:defRPr kumimoji="1" sz="1846">
          <a:solidFill>
            <a:schemeClr val="tx1"/>
          </a:solidFill>
          <a:latin typeface="+mn-lt"/>
          <a:ea typeface="+mn-ea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5pPr>
      <a:lvl6pPr marL="2321227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6pPr>
      <a:lvl7pPr marL="2743269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har char="•"/>
        <a:defRPr kumimoji="1" sz="184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2">
            <a:extLst>
              <a:ext uri="{FF2B5EF4-FFF2-40B4-BE49-F238E27FC236}">
                <a16:creationId xmlns:a16="http://schemas.microsoft.com/office/drawing/2014/main" id="{2A9968CC-6D70-4D0B-865B-69C10E0909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" y="2928716"/>
            <a:ext cx="8763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3AF9117-CD22-42D0-BB9F-3B93BB239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7" y="1733149"/>
            <a:ext cx="900588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/>
            <a:r>
              <a:rPr lang="ko-KR" altLang="en-US" sz="36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쓰러짐 검출성능 개선 작업 가이드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1FB83CCD-3B50-48B0-8A75-DF6A0F11E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134" y="2560637"/>
            <a:ext cx="4827588" cy="2233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endParaRPr lang="en-US" altLang="ko-KR" sz="20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endParaRPr lang="en-US" altLang="ko-KR" sz="3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r" eaLnBrk="1" latin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ko-KR" sz="32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2026-02-26</a:t>
            </a:r>
            <a:endParaRPr lang="ko-KR" altLang="en-US" sz="3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r" eaLnBrk="1" latinLnBrk="1" hangingPunct="1"/>
            <a:r>
              <a:rPr lang="en-US" altLang="ko-KR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Data</a:t>
            </a:r>
            <a:r>
              <a:rPr lang="ko-KR" altLang="en-US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팀 </a:t>
            </a:r>
            <a:r>
              <a:rPr lang="en-US" altLang="ko-KR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심홍석</a:t>
            </a:r>
            <a:endParaRPr lang="en-US" altLang="ko-KR" sz="18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F0047A6E-625A-4002-99C5-D8517A127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47" y="5802313"/>
            <a:ext cx="9083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defRPr>
            </a:lvl9pPr>
          </a:lstStyle>
          <a:p>
            <a:pPr algn="ctr" eaLnBrk="1" latinLnBrk="1" hangingPunct="1"/>
            <a:r>
              <a:rPr lang="en-US" altLang="ko-KR" sz="12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Copyright © </a:t>
            </a:r>
            <a:r>
              <a:rPr lang="en-US" altLang="ko-KR" sz="12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IntelliVIX</a:t>
            </a:r>
            <a:endParaRPr lang="en-US" altLang="ko-KR" sz="12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 eaLnBrk="1" latinLnBrk="1" hangingPunct="1"/>
            <a:r>
              <a:rPr lang="en-US" altLang="ko-KR" sz="8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IntelliVIX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사전 승인 없이 본 내용의 전부 또는 일부에 대한 복사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전재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배포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사용을 금합니다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C51170F-772F-4FFE-8202-8A524DD88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10" y="655639"/>
            <a:ext cx="21934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269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7199-E1BE-22F4-0EBB-921DA095E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F90A208-35F9-7FFB-245F-367DCB5DD904}"/>
              </a:ext>
            </a:extLst>
          </p:cNvPr>
          <p:cNvSpPr txBox="1"/>
          <p:nvPr/>
        </p:nvSpPr>
        <p:spPr>
          <a:xfrm>
            <a:off x="161925" y="783244"/>
            <a:ext cx="8626907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작업 목표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264BD-6E06-B7BB-C853-885077E8BD09}"/>
              </a:ext>
            </a:extLst>
          </p:cNvPr>
          <p:cNvSpPr txBox="1"/>
          <p:nvPr/>
        </p:nvSpPr>
        <p:spPr>
          <a:xfrm>
            <a:off x="517093" y="1605763"/>
            <a:ext cx="8626907" cy="144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쓰러짐 객체 탐지율을 강화하기 위함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클래스 분리를 통해 학습데이터 유연성 강화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- </a:t>
            </a:r>
            <a:r>
              <a:rPr lang="en-US" altLang="ko-KR" sz="15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P_Standing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en-US" altLang="ko-KR" sz="15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P_Lying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en-US" altLang="ko-KR" sz="15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P_Falldown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en-US" altLang="ko-KR" sz="15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P_Nothing</a:t>
            </a:r>
            <a:b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3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4521-3D32-5FF7-C7AD-E24F75DB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56DFB2-0C49-EA39-4BA0-73DE8C5BDE14}"/>
              </a:ext>
            </a:extLst>
          </p:cNvPr>
          <p:cNvSpPr txBox="1"/>
          <p:nvPr/>
        </p:nvSpPr>
        <p:spPr>
          <a:xfrm>
            <a:off x="161925" y="783244"/>
            <a:ext cx="8626907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작업 안내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_</a:t>
            </a:r>
            <a:r>
              <a:rPr lang="en-US" altLang="ko-KR" sz="20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P_Standing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en-US" altLang="ko-KR" sz="20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Person_Standing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)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21A3D-0C29-2F45-7BE0-9CFF06349A65}"/>
              </a:ext>
            </a:extLst>
          </p:cNvPr>
          <p:cNvSpPr txBox="1"/>
          <p:nvPr/>
        </p:nvSpPr>
        <p:spPr>
          <a:xfrm>
            <a:off x="517093" y="1605763"/>
            <a:ext cx="8626907" cy="10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확실하게 서있거나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걷는 것으로 보이는 객체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가려졌더라도 서있다고 유추가 되면 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Standing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카메라 거리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각도에 상관없이 유추 판단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4" name="그림 3" descr="텍스트, 지상, 야외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9042DD-C9BA-D944-FB62-8B6C7473F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40" y="3016456"/>
            <a:ext cx="1408284" cy="1474040"/>
          </a:xfrm>
          <a:prstGeom prst="rect">
            <a:avLst/>
          </a:prstGeom>
        </p:spPr>
      </p:pic>
      <p:pic>
        <p:nvPicPr>
          <p:cNvPr id="6" name="그림 5" descr="텍스트, 야외, 지상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F1B543-589B-8C07-74FD-E230999B3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827" y="3016456"/>
            <a:ext cx="1044707" cy="1396687"/>
          </a:xfrm>
          <a:prstGeom prst="rect">
            <a:avLst/>
          </a:prstGeom>
        </p:spPr>
      </p:pic>
      <p:pic>
        <p:nvPicPr>
          <p:cNvPr id="8" name="그림 7" descr="텍스트, 사람, 실내, 노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ADC30F-E35A-501A-6432-0C0D5AFFD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3442" y="3016456"/>
            <a:ext cx="1043664" cy="1474040"/>
          </a:xfrm>
          <a:prstGeom prst="rect">
            <a:avLst/>
          </a:prstGeom>
        </p:spPr>
      </p:pic>
      <p:pic>
        <p:nvPicPr>
          <p:cNvPr id="13" name="그림 12" descr="텍스트, 지상, 야외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DC720B-36F6-ACEF-C046-5294F177B7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014" y="3016456"/>
            <a:ext cx="1314633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2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7AA9A-8788-CBC6-B455-13691963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0DCA8E-F1B2-0F0D-50BC-BEC50473964A}"/>
              </a:ext>
            </a:extLst>
          </p:cNvPr>
          <p:cNvSpPr txBox="1"/>
          <p:nvPr/>
        </p:nvSpPr>
        <p:spPr>
          <a:xfrm>
            <a:off x="161925" y="783244"/>
            <a:ext cx="8626907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작업 안내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_</a:t>
            </a:r>
            <a:r>
              <a:rPr lang="en-US" altLang="ko-KR" sz="20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P_Lying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en-US" altLang="ko-KR" sz="20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Person_Lying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)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74DA4-8773-A768-7170-0C8A0FA93B88}"/>
              </a:ext>
            </a:extLst>
          </p:cNvPr>
          <p:cNvSpPr txBox="1"/>
          <p:nvPr/>
        </p:nvSpPr>
        <p:spPr>
          <a:xfrm>
            <a:off x="517093" y="1605763"/>
            <a:ext cx="8626907" cy="751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쓰러진 것은 아니고 누워서 작업하거나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넘어지기 직전인 경우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확실히 엎드려 작업하는 경우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 descr="댄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ABDC02-AA54-5EBE-7781-34AC21D97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81" y="2534818"/>
            <a:ext cx="2088769" cy="2088769"/>
          </a:xfrm>
          <a:prstGeom prst="rect">
            <a:avLst/>
          </a:prstGeom>
        </p:spPr>
      </p:pic>
      <p:pic>
        <p:nvPicPr>
          <p:cNvPr id="8" name="그림 7" descr="잔디, 야외, 사람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D557EC-C09C-BF25-C1DA-6DCFB3A7C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277" y="2534818"/>
            <a:ext cx="2246724" cy="1638685"/>
          </a:xfrm>
          <a:prstGeom prst="rect">
            <a:avLst/>
          </a:prstGeom>
        </p:spPr>
      </p:pic>
      <p:pic>
        <p:nvPicPr>
          <p:cNvPr id="10" name="그림 9" descr="지상, 텍스트, 야외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7700BC-D840-5AE8-48C7-BC6E6033B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449" y="2534818"/>
            <a:ext cx="1453142" cy="1256476"/>
          </a:xfrm>
          <a:prstGeom prst="rect">
            <a:avLst/>
          </a:prstGeom>
        </p:spPr>
      </p:pic>
      <p:pic>
        <p:nvPicPr>
          <p:cNvPr id="12" name="그림 11" descr="신발류, 지상, 텍스트, 복합 재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C56D8F-A76A-32FE-5D0D-F8BC9772B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608" y="4043995"/>
            <a:ext cx="1662522" cy="158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3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EEC2C-8601-DCFA-4C58-E7F45F4A3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2C6336F-9FA9-E55F-55A7-EACA28630C4A}"/>
              </a:ext>
            </a:extLst>
          </p:cNvPr>
          <p:cNvSpPr txBox="1"/>
          <p:nvPr/>
        </p:nvSpPr>
        <p:spPr>
          <a:xfrm>
            <a:off x="161925" y="783244"/>
            <a:ext cx="8626907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작업 안내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_</a:t>
            </a:r>
            <a:r>
              <a:rPr lang="en-US" altLang="ko-KR" sz="20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P_Falldown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en-US" altLang="ko-KR" sz="20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Person_Falldown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)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94170-7DC9-B5D5-0189-1A05B0495583}"/>
              </a:ext>
            </a:extLst>
          </p:cNvPr>
          <p:cNvSpPr txBox="1"/>
          <p:nvPr/>
        </p:nvSpPr>
        <p:spPr>
          <a:xfrm>
            <a:off x="517093" y="1605763"/>
            <a:ext cx="8626907" cy="40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완전히 쓰러진 자세를 취한 경우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 descr="잔디, 스크린샷, 신발류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3E853C-5359-6DEC-4402-815B4D3E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35" y="2323960"/>
            <a:ext cx="1824415" cy="1676402"/>
          </a:xfrm>
          <a:prstGeom prst="rect">
            <a:avLst/>
          </a:prstGeom>
        </p:spPr>
      </p:pic>
      <p:pic>
        <p:nvPicPr>
          <p:cNvPr id="11" name="그림 10" descr="텍스트, 신발류, 지상, 바닥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28359E-8A1A-6143-B8AB-58AE2E0A0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935" y="2550799"/>
            <a:ext cx="2121116" cy="1538463"/>
          </a:xfrm>
          <a:prstGeom prst="rect">
            <a:avLst/>
          </a:prstGeom>
        </p:spPr>
      </p:pic>
      <p:pic>
        <p:nvPicPr>
          <p:cNvPr id="15" name="그림 14" descr="텍스트, 의류, 벽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877582-7380-4267-5D40-C760A4764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369" y="1828063"/>
            <a:ext cx="2110749" cy="286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6BBEB-4E9D-1B38-7F33-F72417B03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8FBD00-13A2-A38E-A7D4-1464CB81F9BD}"/>
              </a:ext>
            </a:extLst>
          </p:cNvPr>
          <p:cNvSpPr txBox="1"/>
          <p:nvPr/>
        </p:nvSpPr>
        <p:spPr>
          <a:xfrm>
            <a:off x="161925" y="783244"/>
            <a:ext cx="8626907" cy="509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ko-KR" altLang="en-US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작업 안내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_</a:t>
            </a:r>
            <a:r>
              <a:rPr lang="en-US" altLang="ko-KR" sz="20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P_Nothing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en-US" altLang="ko-KR" sz="20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Person_Nothing</a:t>
            </a:r>
            <a:r>
              <a:rPr lang="en-US" altLang="ko-KR" sz="2000" b="1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)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68DFF6-58E0-6F8F-0504-EA94EB567A2F}"/>
              </a:ext>
            </a:extLst>
          </p:cNvPr>
          <p:cNvSpPr txBox="1"/>
          <p:nvPr/>
        </p:nvSpPr>
        <p:spPr>
          <a:xfrm>
            <a:off x="517093" y="1605763"/>
            <a:ext cx="8626907" cy="751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판단하기 애매하거나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너무 작거나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많이 가려진 경우</a:t>
            </a:r>
            <a:endParaRPr lang="en-US" altLang="ko-KR" sz="15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위의 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클래스에 들어가지 않는 부류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앉음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기울임 등</a:t>
            </a:r>
            <a:r>
              <a:rPr lang="en-US" altLang="ko-KR" sz="15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pic>
        <p:nvPicPr>
          <p:cNvPr id="5" name="그림 4" descr="텍스트, 실내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9A8648-A516-7DA8-7F4B-296D2B95A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122" y="3008782"/>
            <a:ext cx="1334857" cy="1641381"/>
          </a:xfrm>
          <a:prstGeom prst="rect">
            <a:avLst/>
          </a:prstGeom>
        </p:spPr>
      </p:pic>
      <p:pic>
        <p:nvPicPr>
          <p:cNvPr id="8" name="그림 7" descr="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467030-F249-C374-C8FC-4B8BEADAE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202" y="3008781"/>
            <a:ext cx="2094344" cy="1641381"/>
          </a:xfrm>
          <a:prstGeom prst="rect">
            <a:avLst/>
          </a:prstGeom>
        </p:spPr>
      </p:pic>
      <p:pic>
        <p:nvPicPr>
          <p:cNvPr id="11" name="그림 10" descr="텍스트, 건물, 지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A8D832-2CFD-642B-F42C-331D5CC1F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919" y="3008781"/>
            <a:ext cx="1946401" cy="159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60445"/>
      </p:ext>
    </p:extLst>
  </p:cSld>
  <p:clrMapOvr>
    <a:masterClrMapping/>
  </p:clrMapOvr>
</p:sld>
</file>

<file path=ppt/theme/theme1.xml><?xml version="1.0" encoding="utf-8"?>
<a:theme xmlns:a="http://schemas.openxmlformats.org/drawingml/2006/main" name="산출물표준-파워포인트-가로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CCCCFF"/>
      </a:hlink>
      <a:folHlink>
        <a:srgbClr val="B2B2B2"/>
      </a:folHlink>
    </a:clrScheme>
    <a:fontScheme name="산출물표준-파워포인트-가로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AEAEA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바탕체" pitchFamily="17" charset="-127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91424" tIns="45711" rIns="91424" bIns="45711">
        <a:spAutoFit/>
      </a:bodyPr>
      <a:lstStyle>
        <a:defPPr algn="ctr">
          <a:defRPr kumimoji="0" sz="1400" b="1" u="sng" dirty="0">
            <a:latin typeface="나눔스퀘어_ac ExtraBold" panose="020B0600000101010101" pitchFamily="50" charset="-127"/>
            <a:ea typeface="나눔스퀘어_ac ExtraBold" panose="020B0600000101010101" pitchFamily="50" charset="-127"/>
          </a:defRPr>
        </a:defPPr>
      </a:lstStyle>
    </a:txDef>
  </a:objectDefaults>
  <a:extraClrSchemeLst>
    <a:extraClrScheme>
      <a:clrScheme name="산출물표준-파워포인트-가로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산출물표준-파워포인트-가로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산출물표준-파워포인트-가로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661</TotalTime>
  <Words>169</Words>
  <Application>Microsoft Office PowerPoint</Application>
  <PresentationFormat>화면 슬라이드 쇼(4:3)</PresentationFormat>
  <Paragraphs>23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Wingdings</vt:lpstr>
      <vt:lpstr>나눔스퀘어 ExtraBold</vt:lpstr>
      <vt:lpstr>나눔스퀘어 Bold</vt:lpstr>
      <vt:lpstr>Arial</vt:lpstr>
      <vt:lpstr>산출물표준-파워포인트-가로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허 수연</dc:creator>
  <cp:lastModifiedBy>심홍석</cp:lastModifiedBy>
  <cp:revision>166</cp:revision>
  <dcterms:created xsi:type="dcterms:W3CDTF">2020-01-29T02:17:54Z</dcterms:created>
  <dcterms:modified xsi:type="dcterms:W3CDTF">2026-03-04T08:45:12Z</dcterms:modified>
</cp:coreProperties>
</file>